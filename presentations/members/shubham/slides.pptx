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the paper "Stealthy Computational Delay Attacks on Control Systems" by Nauta, Sandberg and Maggio, from ICCPS 2025. I'm Shubham, and I'll start us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[Sweep left to right.] Here is our plan. I'll give the introduction, a brief of the paper and the key takeaways. Then my teammates cover the problem formulation, the authors' setup, the results with our reproduction, the novelty, our own extension, and the conclusion. [Point to the red box.] One question connects it all: how much damage can an attacker do only by delaying the controller, without being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cyber-physical system joins computation with a physical process, like a power grid or a factory. [Point to the loop.] The controller runs as a periodic task. Every period it senses y, computes the next control signal u, and must finish before a deadline.
Famous attacks like Stuxnet and the German steel mill attack changed the data itself, the sensor readings or control commands. So defences check whether that data matches the physical model.
This paper asks something different. What if the attacker never touches the data, and only delays when the control signal is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taxonomy.] CPS attacks are classified by three resources: knowledge of the system, the ability to read data, and the ability to disrupt. The authors add a new point, the delay attack, which needs only disruption.
[Point to the table.] Unlike false data injection, it reads no data. Unlike denial of service, it isn't loud. It hides inside normal timing jitter, and because y and u stay consistent with the model, physics-based detectors can't see it.
So the paper adds this attack class, computes its worst stealthy form, and tests it on two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is CPU starvation. When the control job starts, the attacker runs a task that holds the processor, so the job misses its deadline. [Point to the row of ones and zeros.] Each period the attacker chooses: zero is a hit, one is a forced miss.
During a miss, no new control signal is computed. [Point to the two plots.] With hold, the old value is kept. With zero, the signal is set to zero. When the late job finishes, it uses a stale measurement. Mathematically, the closed loop switches between two matrices, one for a hit and one for a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defender can't see a data change, so it watches timing with three checks. First, a watchdog shuts the plant down after a fixed number of consecutive misses, usually three to ten in industry. Second, a sliding window uses a binomial test to raise an alarm if recent misses exceed the normal miss rate. Third, long-term counters record bursts of misses, and a chi-squared test checks they follow a geometric distribution.
The attack is stealthy only if none of these tests can say the system is behaving abnormally.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objective.] The attacker chooses the pattern of misses that pushes the output as far as possible from its target. The constraints say the watchdog must never fire, the system follows its real dynamics, and both statistical tests must pass.
This is a mixed integer quadratically constrained program, solved with Gurobi, and the answer is a schedule of misses like this one. [Point to the drawings.] They test it on a quadruple-tank process, which is stable, and on a real Furuta pendulum, which is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One: timing itself is an attack surface. No data changes, so data-based detectors stay silent.
Two: watchdogs give little protection. They only help if the system shuts down after one or two misses.
Three: long memory beats short memory. The long-term chi-squared test limits the attacker far more than the window test.
Four: the actuation policy matters. For the pendulum, zero is safer, while under hold a stealthy attack can destabilise it.
Five: well-timed beats more. Misses are spread between hits, and about ten periods is enough.
[Point to the green box.] So defenders should monitor timing over the long term and pick the actuation policy to suit the plant. Real-time scheduling is part of security. Thank you, and I'll hand over to my teammate for the problem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06E3C"/>
          </a:solidFill>
          <a:ln w="12700">
            <a:solidFill>
              <a:srgbClr val="006E3C"/>
            </a:solidFill>
            <a:prstDash val="solid"/>
          </a:ln>
        </p:spPr>
      </p:sp>
      <p:sp>
        <p:nvSpPr>
          <p:cNvPr id="3" name="Text 1"/>
          <p:cNvSpPr/>
          <p:nvPr/>
        </p:nvSpPr>
        <p:spPr>
          <a:xfrm>
            <a:off x="365760" y="4727448"/>
            <a:ext cx="8412480" cy="164592"/>
          </a:xfrm>
          <a:prstGeom prst="rect">
            <a:avLst/>
          </a:prstGeom>
          <a:noFill/>
          <a:ln/>
        </p:spPr>
        <p:txBody>
          <a:bodyPr wrap="square" lIns="0" tIns="0" rIns="0" bIns="0" rtlCol="0" anchor="ctr"/>
          <a:lstStyle/>
          <a:p>
            <a:pPr indent="0" marL="0">
              <a:buNone/>
            </a:pPr>
            <a:r>
              <a:rPr lang="en-US" sz="650" dirty="0">
                <a:solidFill>
                  <a:srgbClr val="5A5A5A"/>
                </a:solidFill>
                <a:latin typeface="Arial" pitchFamily="34" charset="0"/>
                <a:ea typeface="Arial" pitchFamily="34" charset="-122"/>
                <a:cs typeface="Arial" pitchFamily="34" charset="-120"/>
              </a:rPr>
              <a:t>Source: T. Nauta, H. Sandberg and M. Maggio, “Stealthy Computational Delay Attacks on Control Systems,” ICCPS 2025. DOI 10.1145/3716550.3722013</a:t>
            </a:r>
            <a:endParaRPr lang="en-US" sz="650" dirty="0"/>
          </a:p>
        </p:txBody>
      </p:sp>
      <p:sp>
        <p:nvSpPr>
          <p:cNvPr id="4" name="Shape 2"/>
          <p:cNvSpPr/>
          <p:nvPr/>
        </p:nvSpPr>
        <p:spPr>
          <a:xfrm>
            <a:off x="0" y="4924044"/>
            <a:ext cx="9144000" cy="219456"/>
          </a:xfrm>
          <a:prstGeom prst="rect">
            <a:avLst/>
          </a:prstGeom>
          <a:solidFill>
            <a:srgbClr val="006E3C"/>
          </a:solidFill>
          <a:ln w="12700">
            <a:solidFill>
              <a:srgbClr val="006E3C"/>
            </a:solidFill>
            <a:prstDash val="solid"/>
          </a:ln>
        </p:spPr>
      </p:sp>
      <p:sp>
        <p:nvSpPr>
          <p:cNvPr id="5" name="Text 3"/>
          <p:cNvSpPr/>
          <p:nvPr/>
        </p:nvSpPr>
        <p:spPr>
          <a:xfrm>
            <a:off x="1371600" y="4924044"/>
            <a:ext cx="6400800" cy="219456"/>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Stealthy Computational Delay Attacks on Control Systems</a:t>
            </a:r>
            <a:endParaRPr lang="en-US" sz="800" dirty="0"/>
          </a:p>
        </p:txBody>
      </p:sp>
      <p:sp>
        <p:nvSpPr>
          <p:cNvPr id="6" name="Text 4"/>
          <p:cNvSpPr/>
          <p:nvPr>
            <p:ph idx="104" type="title" hasCustomPrompt="1"/>
          </p:nvPr>
        </p:nvSpPr>
        <p:spPr>
          <a:xfrm>
            <a:off x="228600" y="0"/>
            <a:ext cx="8686800" cy="475488"/>
          </a:xfrm>
          <a:prstGeom prst="rect">
            <a:avLst/>
          </a:prstGeom>
          <a:noFill/>
          <a:ln/>
        </p:spPr>
        <p:txBody>
          <a:bodyPr wrap="square" rtlCol="0"/>
          <a:lstStyle>
            <a:lvl1pPr algn="l" indent="0" marL="0">
              <a:buNone/>
              <a:defRPr lang="en-US" sz="2000" dirty="0">
                <a:solidFill>
                  <a:srgbClr val="FFFFFF"/>
                </a:solidFill>
                <a:latin typeface="Arial" pitchFamily="34" charset="0"/>
                <a:ea typeface="Arial" pitchFamily="34" charset="-122"/>
                <a:cs typeface="Arial"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box"/>
          <p:cNvSpPr/>
          <p:nvPr/>
        </p:nvSpPr>
        <p:spPr>
          <a:xfrm>
            <a:off x="365760" y="777240"/>
            <a:ext cx="8412480" cy="1417320"/>
          </a:xfrm>
          <a:prstGeom prst="roundRect">
            <a:avLst>
              <a:gd name="adj" fmla="val 5161"/>
            </a:avLst>
          </a:prstGeom>
          <a:solidFill>
            <a:srgbClr val="006E3C"/>
          </a:solidFill>
          <a:ln w="12700">
            <a:solidFill>
              <a:srgbClr val="006E3C"/>
            </a:solidFill>
            <a:prstDash val="solid"/>
          </a:ln>
          <a:effectLst>
            <a:outerShdw sx="100000" sy="100000" kx="0" ky="0" algn="bl" rotWithShape="0" blurRad="50800" dist="25400" dir="2700000">
              <a:srgbClr val="000000">
                <a:alpha val="30000"/>
              </a:srgbClr>
            </a:outerShdw>
          </a:effectLst>
        </p:spPr>
      </p:sp>
      <p:sp>
        <p:nvSpPr>
          <p:cNvPr id="4" name="Text 1"/>
          <p:cNvSpPr txBox="1"/>
          <p:nvPr/>
        </p:nvSpPr>
        <p:spPr>
          <a:xfrm>
            <a:off x="365760" y="841248"/>
            <a:ext cx="8412480" cy="914400"/>
          </a:xfrm>
          <a:prstGeom prst="rect">
            <a:avLst/>
          </a:prstGeom>
          <a:noFill/>
          <a:ln/>
        </p:spPr>
        <p:txBody>
          <a:bodyPr wrap="square" lIns="0" tIns="0" rIns="0" bIns="0" rtlCol="0" anchor="ctr"/>
          <a:lstStyle/>
          <a:p>
            <a:pPr algn="ctr" indent="0" marL="0">
              <a:buNone/>
            </a:pPr>
            <a:r>
              <a:rPr lang="en-US" sz="2600" dirty="0">
                <a:solidFill>
                  <a:srgbClr val="FFFFFF"/>
                </a:solidFill>
                <a:latin typeface="Arial" pitchFamily="34" charset="0"/>
                <a:ea typeface="Arial" pitchFamily="34" charset="-122"/>
                <a:cs typeface="Arial" pitchFamily="34" charset="-120"/>
              </a:rPr>
              <a:t>Stealthy Computational Delay Attacks</a:t>
            </a:r>
            <a:endParaRPr lang="en-US" sz="2600" dirty="0"/>
          </a:p>
          <a:p>
            <a:pPr algn="ctr" indent="0" marL="0">
              <a:buNone/>
            </a:pPr>
            <a:r>
              <a:rPr lang="en-US" sz="2600" dirty="0">
                <a:solidFill>
                  <a:srgbClr val="FFFFFF"/>
                </a:solidFill>
                <a:latin typeface="Arial" pitchFamily="34" charset="0"/>
                <a:ea typeface="Arial" pitchFamily="34" charset="-122"/>
                <a:cs typeface="Arial" pitchFamily="34" charset="-120"/>
              </a:rPr>
              <a:t>on Control Systems</a:t>
            </a:r>
            <a:endParaRPr lang="en-US" sz="2600" dirty="0"/>
          </a:p>
        </p:txBody>
      </p:sp>
      <p:sp>
        <p:nvSpPr>
          <p:cNvPr id="5" name="Text 2"/>
          <p:cNvSpPr txBox="1"/>
          <p:nvPr/>
        </p:nvSpPr>
        <p:spPr>
          <a:xfrm>
            <a:off x="365760" y="1755648"/>
            <a:ext cx="8412480" cy="347472"/>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Talitha Nauta, Henrik Sandberg and Martina Maggio   ·   ACM/IEEE ICCPS 2025</a:t>
            </a:r>
            <a:endParaRPr lang="en-US" sz="1300" dirty="0"/>
          </a:p>
        </p:txBody>
      </p:sp>
      <p:sp>
        <p:nvSpPr>
          <p:cNvPr id="6" name="Text 3"/>
          <p:cNvSpPr txBox="1"/>
          <p:nvPr/>
        </p:nvSpPr>
        <p:spPr>
          <a:xfrm>
            <a:off x="0" y="2743200"/>
            <a:ext cx="9144000" cy="228600"/>
          </a:xfrm>
          <a:prstGeom prst="rect">
            <a:avLst/>
          </a:prstGeom>
          <a:noFill/>
          <a:ln/>
        </p:spPr>
        <p:txBody>
          <a:bodyPr wrap="square" lIns="0" tIns="0" rIns="0" bIns="0" rtlCol="0" anchor="ctr"/>
          <a:lstStyle/>
          <a:p>
            <a:pPr algn="ctr" indent="0" marL="0">
              <a:buNone/>
            </a:pPr>
            <a:r>
              <a:rPr lang="en-US" sz="1000" spc="200" kern="0" dirty="0">
                <a:solidFill>
                  <a:srgbClr val="5A5A5A"/>
                </a:solidFill>
                <a:latin typeface="Arial" pitchFamily="34" charset="0"/>
                <a:ea typeface="Arial" pitchFamily="34" charset="-122"/>
                <a:cs typeface="Arial" pitchFamily="34" charset="-120"/>
              </a:rPr>
              <a:t>PRESENTED BY</a:t>
            </a:r>
            <a:endParaRPr lang="en-US" sz="1000" dirty="0"/>
          </a:p>
        </p:txBody>
      </p:sp>
      <p:sp>
        <p:nvSpPr>
          <p:cNvPr id="7" name="presenter 1"/>
          <p:cNvSpPr/>
          <p:nvPr/>
        </p:nvSpPr>
        <p:spPr>
          <a:xfrm>
            <a:off x="557784" y="3090672"/>
            <a:ext cx="1517904" cy="420624"/>
          </a:xfrm>
          <a:prstGeom prst="roundRect">
            <a:avLst>
              <a:gd name="adj" fmla="val 13043"/>
            </a:avLst>
          </a:prstGeom>
          <a:solidFill>
            <a:srgbClr val="E4F2E9"/>
          </a:solidFill>
          <a:ln w="15875">
            <a:solidFill>
              <a:srgbClr val="006E3C"/>
            </a:solidFill>
          </a:ln>
        </p:spPr>
        <p:txBody>
          <a:bodyPr wrap="square" lIns="0" tIns="0" rIns="0" bIns="0" rtlCol="0" anchor="ctr"/>
          <a:lstStyle/>
          <a:p>
            <a:pPr algn="ctr" indent="0" marL="0">
              <a:buNone/>
            </a:pPr>
            <a:r>
              <a:rPr lang="en-US" sz="1250" b="1" dirty="0">
                <a:solidFill>
                  <a:srgbClr val="004D2A"/>
                </a:solidFill>
                <a:latin typeface="Arial" pitchFamily="34" charset="0"/>
                <a:ea typeface="Arial" pitchFamily="34" charset="-122"/>
                <a:cs typeface="Arial" pitchFamily="34" charset="-120"/>
              </a:rPr>
              <a:t>Shubham Tyagi</a:t>
            </a:r>
            <a:endParaRPr lang="en-US" sz="1250" dirty="0"/>
          </a:p>
        </p:txBody>
      </p:sp>
      <p:sp>
        <p:nvSpPr>
          <p:cNvPr id="8" name="presenter 2"/>
          <p:cNvSpPr/>
          <p:nvPr/>
        </p:nvSpPr>
        <p:spPr>
          <a:xfrm>
            <a:off x="2185416" y="3090672"/>
            <a:ext cx="1517904" cy="420624"/>
          </a:xfrm>
          <a:prstGeom prst="roundRect">
            <a:avLst>
              <a:gd name="adj" fmla="val 13043"/>
            </a:avLst>
          </a:prstGeom>
          <a:solidFill>
            <a:srgbClr val="E4F2E9"/>
          </a:solidFill>
          <a:ln w="15875">
            <a:solidFill>
              <a:srgbClr val="006E3C"/>
            </a:solidFill>
          </a:ln>
        </p:spPr>
        <p:txBody>
          <a:bodyPr wrap="square" lIns="0" tIns="0" rIns="0" bIns="0" rtlCol="0" anchor="ctr"/>
          <a:lstStyle/>
          <a:p>
            <a:pPr algn="ctr" indent="0" marL="0">
              <a:buNone/>
            </a:pPr>
            <a:r>
              <a:rPr lang="en-US" sz="1250" b="1" dirty="0">
                <a:solidFill>
                  <a:srgbClr val="004D2A"/>
                </a:solidFill>
                <a:latin typeface="Arial" pitchFamily="34" charset="0"/>
                <a:ea typeface="Arial" pitchFamily="34" charset="-122"/>
                <a:cs typeface="Arial" pitchFamily="34" charset="-120"/>
              </a:rPr>
              <a:t>Swarali</a:t>
            </a:r>
            <a:endParaRPr lang="en-US" sz="1250" dirty="0"/>
          </a:p>
        </p:txBody>
      </p:sp>
      <p:sp>
        <p:nvSpPr>
          <p:cNvPr id="9" name="presenter 3"/>
          <p:cNvSpPr/>
          <p:nvPr/>
        </p:nvSpPr>
        <p:spPr>
          <a:xfrm>
            <a:off x="3813048" y="3090672"/>
            <a:ext cx="1517904" cy="420624"/>
          </a:xfrm>
          <a:prstGeom prst="roundRect">
            <a:avLst>
              <a:gd name="adj" fmla="val 13043"/>
            </a:avLst>
          </a:prstGeom>
          <a:solidFill>
            <a:srgbClr val="E4F2E9"/>
          </a:solidFill>
          <a:ln w="15875">
            <a:solidFill>
              <a:srgbClr val="006E3C"/>
            </a:solidFill>
          </a:ln>
        </p:spPr>
        <p:txBody>
          <a:bodyPr wrap="square" lIns="0" tIns="0" rIns="0" bIns="0" rtlCol="0" anchor="ctr"/>
          <a:lstStyle/>
          <a:p>
            <a:pPr algn="ctr" indent="0" marL="0">
              <a:buNone/>
            </a:pPr>
            <a:r>
              <a:rPr lang="en-US" sz="1250" b="1" dirty="0">
                <a:solidFill>
                  <a:srgbClr val="004D2A"/>
                </a:solidFill>
                <a:latin typeface="Arial" pitchFamily="34" charset="0"/>
                <a:ea typeface="Arial" pitchFamily="34" charset="-122"/>
                <a:cs typeface="Arial" pitchFamily="34" charset="-120"/>
              </a:rPr>
              <a:t>Madhavi Singh</a:t>
            </a:r>
            <a:endParaRPr lang="en-US" sz="1250" dirty="0"/>
          </a:p>
        </p:txBody>
      </p:sp>
      <p:sp>
        <p:nvSpPr>
          <p:cNvPr id="10" name="presenter 4"/>
          <p:cNvSpPr/>
          <p:nvPr/>
        </p:nvSpPr>
        <p:spPr>
          <a:xfrm>
            <a:off x="5440680" y="3090672"/>
            <a:ext cx="1517904" cy="420624"/>
          </a:xfrm>
          <a:prstGeom prst="roundRect">
            <a:avLst>
              <a:gd name="adj" fmla="val 13043"/>
            </a:avLst>
          </a:prstGeom>
          <a:solidFill>
            <a:srgbClr val="E4F2E9"/>
          </a:solidFill>
          <a:ln w="15875">
            <a:solidFill>
              <a:srgbClr val="006E3C"/>
            </a:solidFill>
          </a:ln>
        </p:spPr>
        <p:txBody>
          <a:bodyPr wrap="square" lIns="0" tIns="0" rIns="0" bIns="0" rtlCol="0" anchor="ctr"/>
          <a:lstStyle/>
          <a:p>
            <a:pPr algn="ctr" indent="0" marL="0">
              <a:buNone/>
            </a:pPr>
            <a:r>
              <a:rPr lang="en-US" sz="1250" b="1" dirty="0">
                <a:solidFill>
                  <a:srgbClr val="004D2A"/>
                </a:solidFill>
                <a:latin typeface="Arial" pitchFamily="34" charset="0"/>
                <a:ea typeface="Arial" pitchFamily="34" charset="-122"/>
                <a:cs typeface="Arial" pitchFamily="34" charset="-120"/>
              </a:rPr>
              <a:t>Abhishek Sharma</a:t>
            </a:r>
            <a:endParaRPr lang="en-US" sz="1250" dirty="0"/>
          </a:p>
        </p:txBody>
      </p:sp>
      <p:sp>
        <p:nvSpPr>
          <p:cNvPr id="11" name="presenter 5"/>
          <p:cNvSpPr/>
          <p:nvPr/>
        </p:nvSpPr>
        <p:spPr>
          <a:xfrm>
            <a:off x="7068312" y="3090672"/>
            <a:ext cx="1517904" cy="420624"/>
          </a:xfrm>
          <a:prstGeom prst="roundRect">
            <a:avLst>
              <a:gd name="adj" fmla="val 13043"/>
            </a:avLst>
          </a:prstGeom>
          <a:solidFill>
            <a:srgbClr val="E4F2E9"/>
          </a:solidFill>
          <a:ln w="15875">
            <a:solidFill>
              <a:srgbClr val="006E3C"/>
            </a:solidFill>
          </a:ln>
        </p:spPr>
        <p:txBody>
          <a:bodyPr wrap="square" lIns="0" tIns="0" rIns="0" bIns="0" rtlCol="0" anchor="ctr"/>
          <a:lstStyle/>
          <a:p>
            <a:pPr algn="ctr" indent="0" marL="0">
              <a:buNone/>
            </a:pPr>
            <a:r>
              <a:rPr lang="en-US" sz="1250" b="1" dirty="0">
                <a:solidFill>
                  <a:srgbClr val="004D2A"/>
                </a:solidFill>
                <a:latin typeface="Arial" pitchFamily="34" charset="0"/>
                <a:ea typeface="Arial" pitchFamily="34" charset="-122"/>
                <a:cs typeface="Arial" pitchFamily="34" charset="-120"/>
              </a:rPr>
              <a:t>Srinjoy</a:t>
            </a:r>
            <a:endParaRPr lang="en-US" sz="1250" dirty="0"/>
          </a:p>
        </p:txBody>
      </p:sp>
      <p:sp>
        <p:nvSpPr>
          <p:cNvPr id="12" name="Text 9"/>
          <p:cNvSpPr txBox="1"/>
          <p:nvPr/>
        </p:nvSpPr>
        <p:spPr>
          <a:xfrm>
            <a:off x="0" y="3931920"/>
            <a:ext cx="9144000" cy="320040"/>
          </a:xfrm>
          <a:prstGeom prst="rect">
            <a:avLst/>
          </a:prstGeom>
          <a:noFill/>
          <a:ln/>
        </p:spPr>
        <p:txBody>
          <a:bodyPr wrap="square" lIns="0" tIns="0" rIns="0" bIns="0" rtlCol="0" anchor="ctr"/>
          <a:lstStyle/>
          <a:p>
            <a:pPr algn="ctr" indent="0" marL="0">
              <a:buNone/>
            </a:pPr>
            <a:r>
              <a:rPr lang="en-US" sz="1400" dirty="0">
                <a:solidFill>
                  <a:srgbClr val="222222"/>
                </a:solidFill>
                <a:latin typeface="Arial" pitchFamily="34" charset="0"/>
                <a:ea typeface="Arial" pitchFamily="34" charset="-122"/>
                <a:cs typeface="Arial" pitchFamily="34" charset="-120"/>
              </a:rPr>
              <a:t>Embedded and Cyber-Physical Systems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Presentation Roadmap</a:t>
            </a:r>
            <a:endParaRPr lang="en-US" sz="2000" dirty="0"/>
          </a:p>
        </p:txBody>
      </p:sp>
      <p:sp>
        <p:nvSpPr>
          <p:cNvPr id="4" name="Text 1"/>
          <p:cNvSpPr txBox="1"/>
          <p:nvPr/>
        </p:nvSpPr>
        <p:spPr>
          <a:xfrm>
            <a:off x="301752" y="713232"/>
            <a:ext cx="1261872" cy="228600"/>
          </a:xfrm>
          <a:prstGeom prst="rect">
            <a:avLst/>
          </a:prstGeom>
          <a:noFill/>
          <a:ln/>
        </p:spPr>
        <p:txBody>
          <a:bodyPr wrap="square" lIns="0" tIns="0" rIns="0" bIns="0" rtlCol="0" anchor="ctr"/>
          <a:lstStyle/>
          <a:p>
            <a:pPr algn="ctr" indent="0" marL="0">
              <a:buNone/>
            </a:pPr>
            <a:r>
              <a:rPr lang="en-US" sz="1000" b="1" dirty="0">
                <a:solidFill>
                  <a:srgbClr val="C82828"/>
                </a:solidFill>
                <a:latin typeface="Arial" pitchFamily="34" charset="0"/>
                <a:ea typeface="Arial" pitchFamily="34" charset="-122"/>
                <a:cs typeface="Arial" pitchFamily="34" charset="-120"/>
              </a:rPr>
              <a:t>we start here</a:t>
            </a:r>
            <a:endParaRPr lang="en-US" sz="1000" dirty="0"/>
          </a:p>
        </p:txBody>
      </p:sp>
      <p:sp>
        <p:nvSpPr>
          <p:cNvPr id="5" name="step 1"/>
          <p:cNvSpPr/>
          <p:nvPr/>
        </p:nvSpPr>
        <p:spPr>
          <a:xfrm>
            <a:off x="795528" y="987552"/>
            <a:ext cx="274320" cy="274320"/>
          </a:xfrm>
          <a:prstGeom prst="ellipse">
            <a:avLst/>
          </a:prstGeom>
          <a:solidFill>
            <a:srgbClr val="FFFFFF"/>
          </a:solidFill>
          <a:ln w="19050">
            <a:solidFill>
              <a:srgbClr val="006E3C"/>
            </a:solidFill>
            <a:prstDash val="solid"/>
          </a:ln>
        </p:spPr>
      </p:sp>
      <p:sp>
        <p:nvSpPr>
          <p:cNvPr id="6" name="Text 3"/>
          <p:cNvSpPr txBox="1"/>
          <p:nvPr/>
        </p:nvSpPr>
        <p:spPr>
          <a:xfrm>
            <a:off x="795528"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1</a:t>
            </a:r>
            <a:endParaRPr lang="en-US" sz="1000" dirty="0"/>
          </a:p>
        </p:txBody>
      </p:sp>
      <p:sp>
        <p:nvSpPr>
          <p:cNvPr id="7" name="section 1"/>
          <p:cNvSpPr/>
          <p:nvPr/>
        </p:nvSpPr>
        <p:spPr>
          <a:xfrm>
            <a:off x="301752" y="1417320"/>
            <a:ext cx="1261872" cy="713232"/>
          </a:xfrm>
          <a:prstGeom prst="homePlate">
            <a:avLst/>
          </a:prstGeom>
          <a:solidFill>
            <a:srgbClr val="006E3C"/>
          </a:solidFill>
          <a:ln w="15875">
            <a:solidFill>
              <a:srgbClr val="006E3C"/>
            </a:solidFill>
            <a:prstDash val="solid"/>
          </a:ln>
        </p:spPr>
      </p:sp>
      <p:sp>
        <p:nvSpPr>
          <p:cNvPr id="8" name="Text 5"/>
          <p:cNvSpPr txBox="1"/>
          <p:nvPr/>
        </p:nvSpPr>
        <p:spPr>
          <a:xfrm>
            <a:off x="347472" y="1417320"/>
            <a:ext cx="987552"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Introduction</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&amp; Brief</a:t>
            </a:r>
            <a:endParaRPr lang="en-US" sz="1000" dirty="0"/>
          </a:p>
        </p:txBody>
      </p:sp>
      <p:sp>
        <p:nvSpPr>
          <p:cNvPr id="9" name="Text 6"/>
          <p:cNvSpPr txBox="1"/>
          <p:nvPr/>
        </p:nvSpPr>
        <p:spPr>
          <a:xfrm>
            <a:off x="347472"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Why timing matters, how the attack works, key takeaways</a:t>
            </a:r>
            <a:endParaRPr lang="en-US" sz="1000" dirty="0"/>
          </a:p>
        </p:txBody>
      </p:sp>
      <p:sp>
        <p:nvSpPr>
          <p:cNvPr id="10" name="step 2"/>
          <p:cNvSpPr/>
          <p:nvPr/>
        </p:nvSpPr>
        <p:spPr>
          <a:xfrm>
            <a:off x="1997964" y="987552"/>
            <a:ext cx="274320" cy="274320"/>
          </a:xfrm>
          <a:prstGeom prst="ellipse">
            <a:avLst/>
          </a:prstGeom>
          <a:solidFill>
            <a:srgbClr val="FFFFFF"/>
          </a:solidFill>
          <a:ln w="19050">
            <a:solidFill>
              <a:srgbClr val="006E3C"/>
            </a:solidFill>
            <a:prstDash val="solid"/>
          </a:ln>
        </p:spPr>
      </p:sp>
      <p:sp>
        <p:nvSpPr>
          <p:cNvPr id="11" name="Text 8"/>
          <p:cNvSpPr txBox="1"/>
          <p:nvPr/>
        </p:nvSpPr>
        <p:spPr>
          <a:xfrm>
            <a:off x="1997964"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2</a:t>
            </a:r>
            <a:endParaRPr lang="en-US" sz="1000" dirty="0"/>
          </a:p>
        </p:txBody>
      </p:sp>
      <p:sp>
        <p:nvSpPr>
          <p:cNvPr id="12" name="section 2"/>
          <p:cNvSpPr/>
          <p:nvPr/>
        </p:nvSpPr>
        <p:spPr>
          <a:xfrm>
            <a:off x="1504188" y="1417320"/>
            <a:ext cx="1261872" cy="713232"/>
          </a:xfrm>
          <a:prstGeom prst="chevron">
            <a:avLst/>
          </a:prstGeom>
          <a:solidFill>
            <a:srgbClr val="E4F2E9"/>
          </a:solidFill>
          <a:ln w="15875">
            <a:solidFill>
              <a:srgbClr val="006E3C"/>
            </a:solidFill>
            <a:prstDash val="solid"/>
          </a:ln>
        </p:spPr>
      </p:sp>
      <p:sp>
        <p:nvSpPr>
          <p:cNvPr id="13" name="Text 10"/>
          <p:cNvSpPr txBox="1"/>
          <p:nvPr/>
        </p:nvSpPr>
        <p:spPr>
          <a:xfrm>
            <a:off x="1732788" y="1417320"/>
            <a:ext cx="850392" cy="713232"/>
          </a:xfrm>
          <a:prstGeom prst="rect">
            <a:avLst/>
          </a:prstGeom>
          <a:noFill/>
          <a:ln/>
        </p:spPr>
        <p:txBody>
          <a:bodyPr wrap="square" lIns="0" tIns="0" rIns="0" bIns="0" rtlCol="0" anchor="ctr"/>
          <a:lstStyle/>
          <a:p>
            <a:pPr algn="ctr" indent="0" marL="0">
              <a:buNone/>
            </a:pPr>
            <a:r>
              <a:rPr lang="en-US" sz="1000" b="1" dirty="0">
                <a:solidFill>
                  <a:srgbClr val="004D2A"/>
                </a:solidFill>
                <a:latin typeface="Arial" pitchFamily="34" charset="0"/>
                <a:ea typeface="Arial" pitchFamily="34" charset="-122"/>
                <a:cs typeface="Arial" pitchFamily="34" charset="-120"/>
              </a:rPr>
              <a:t>Problem</a:t>
            </a:r>
            <a:endParaRPr lang="en-US" sz="1000" dirty="0"/>
          </a:p>
          <a:p>
            <a:pPr algn="ctr" indent="0" marL="0">
              <a:buNone/>
            </a:pPr>
            <a:r>
              <a:rPr lang="en-US" sz="1000" b="1" dirty="0">
                <a:solidFill>
                  <a:srgbClr val="004D2A"/>
                </a:solidFill>
                <a:latin typeface="Arial" pitchFamily="34" charset="0"/>
                <a:ea typeface="Arial" pitchFamily="34" charset="-122"/>
                <a:cs typeface="Arial" pitchFamily="34" charset="-120"/>
              </a:rPr>
              <a:t>Formulation</a:t>
            </a:r>
            <a:endParaRPr lang="en-US" sz="1000" dirty="0"/>
          </a:p>
        </p:txBody>
      </p:sp>
      <p:sp>
        <p:nvSpPr>
          <p:cNvPr id="14" name="Text 11"/>
          <p:cNvSpPr txBox="1"/>
          <p:nvPr/>
        </p:nvSpPr>
        <p:spPr>
          <a:xfrm>
            <a:off x="1549908"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Plant, controller, switched model, detectors</a:t>
            </a:r>
            <a:endParaRPr lang="en-US" sz="1000" dirty="0"/>
          </a:p>
        </p:txBody>
      </p:sp>
      <p:sp>
        <p:nvSpPr>
          <p:cNvPr id="15" name="step 3"/>
          <p:cNvSpPr/>
          <p:nvPr/>
        </p:nvSpPr>
        <p:spPr>
          <a:xfrm>
            <a:off x="3200400" y="987552"/>
            <a:ext cx="274320" cy="274320"/>
          </a:xfrm>
          <a:prstGeom prst="ellipse">
            <a:avLst/>
          </a:prstGeom>
          <a:solidFill>
            <a:srgbClr val="FFFFFF"/>
          </a:solidFill>
          <a:ln w="19050">
            <a:solidFill>
              <a:srgbClr val="006E3C"/>
            </a:solidFill>
            <a:prstDash val="solid"/>
          </a:ln>
        </p:spPr>
      </p:sp>
      <p:sp>
        <p:nvSpPr>
          <p:cNvPr id="16" name="Text 13"/>
          <p:cNvSpPr txBox="1"/>
          <p:nvPr/>
        </p:nvSpPr>
        <p:spPr>
          <a:xfrm>
            <a:off x="3200400"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3</a:t>
            </a:r>
            <a:endParaRPr lang="en-US" sz="1000" dirty="0"/>
          </a:p>
        </p:txBody>
      </p:sp>
      <p:sp>
        <p:nvSpPr>
          <p:cNvPr id="17" name="section 3"/>
          <p:cNvSpPr/>
          <p:nvPr/>
        </p:nvSpPr>
        <p:spPr>
          <a:xfrm>
            <a:off x="2706624" y="1417320"/>
            <a:ext cx="1261872" cy="713232"/>
          </a:xfrm>
          <a:prstGeom prst="chevron">
            <a:avLst/>
          </a:prstGeom>
          <a:solidFill>
            <a:srgbClr val="E4F2E9"/>
          </a:solidFill>
          <a:ln w="15875">
            <a:solidFill>
              <a:srgbClr val="006E3C"/>
            </a:solidFill>
            <a:prstDash val="solid"/>
          </a:ln>
        </p:spPr>
      </p:sp>
      <p:sp>
        <p:nvSpPr>
          <p:cNvPr id="18" name="Text 15"/>
          <p:cNvSpPr txBox="1"/>
          <p:nvPr/>
        </p:nvSpPr>
        <p:spPr>
          <a:xfrm>
            <a:off x="2935224" y="1417320"/>
            <a:ext cx="850392" cy="713232"/>
          </a:xfrm>
          <a:prstGeom prst="rect">
            <a:avLst/>
          </a:prstGeom>
          <a:noFill/>
          <a:ln/>
        </p:spPr>
        <p:txBody>
          <a:bodyPr wrap="square" lIns="0" tIns="0" rIns="0" bIns="0" rtlCol="0" anchor="ctr"/>
          <a:lstStyle/>
          <a:p>
            <a:pPr algn="ctr" indent="0" marL="0">
              <a:buNone/>
            </a:pPr>
            <a:r>
              <a:rPr lang="en-US" sz="1000" b="1" dirty="0">
                <a:solidFill>
                  <a:srgbClr val="004D2A"/>
                </a:solidFill>
                <a:latin typeface="Arial" pitchFamily="34" charset="0"/>
                <a:ea typeface="Arial" pitchFamily="34" charset="-122"/>
                <a:cs typeface="Arial" pitchFamily="34" charset="-120"/>
              </a:rPr>
              <a:t>Author</a:t>
            </a:r>
            <a:endParaRPr lang="en-US" sz="1000" dirty="0"/>
          </a:p>
          <a:p>
            <a:pPr algn="ctr" indent="0" marL="0">
              <a:buNone/>
            </a:pPr>
            <a:r>
              <a:rPr lang="en-US" sz="1000" b="1" dirty="0">
                <a:solidFill>
                  <a:srgbClr val="004D2A"/>
                </a:solidFill>
                <a:latin typeface="Arial" pitchFamily="34" charset="0"/>
                <a:ea typeface="Arial" pitchFamily="34" charset="-122"/>
                <a:cs typeface="Arial" pitchFamily="34" charset="-120"/>
              </a:rPr>
              <a:t>Setup</a:t>
            </a:r>
            <a:endParaRPr lang="en-US" sz="1000" dirty="0"/>
          </a:p>
        </p:txBody>
      </p:sp>
      <p:sp>
        <p:nvSpPr>
          <p:cNvPr id="19" name="Text 16"/>
          <p:cNvSpPr txBox="1"/>
          <p:nvPr/>
        </p:nvSpPr>
        <p:spPr>
          <a:xfrm>
            <a:off x="2752344"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Requirements, assumptions, code and pipelines</a:t>
            </a:r>
            <a:endParaRPr lang="en-US" sz="1000" dirty="0"/>
          </a:p>
        </p:txBody>
      </p:sp>
      <p:sp>
        <p:nvSpPr>
          <p:cNvPr id="20" name="step 4"/>
          <p:cNvSpPr/>
          <p:nvPr/>
        </p:nvSpPr>
        <p:spPr>
          <a:xfrm>
            <a:off x="4402836" y="987552"/>
            <a:ext cx="274320" cy="274320"/>
          </a:xfrm>
          <a:prstGeom prst="ellipse">
            <a:avLst/>
          </a:prstGeom>
          <a:solidFill>
            <a:srgbClr val="FFFFFF"/>
          </a:solidFill>
          <a:ln w="19050">
            <a:solidFill>
              <a:srgbClr val="006E3C"/>
            </a:solidFill>
            <a:prstDash val="solid"/>
          </a:ln>
        </p:spPr>
      </p:sp>
      <p:sp>
        <p:nvSpPr>
          <p:cNvPr id="21" name="Text 18"/>
          <p:cNvSpPr txBox="1"/>
          <p:nvPr/>
        </p:nvSpPr>
        <p:spPr>
          <a:xfrm>
            <a:off x="4402836"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4</a:t>
            </a:r>
            <a:endParaRPr lang="en-US" sz="1000" dirty="0"/>
          </a:p>
        </p:txBody>
      </p:sp>
      <p:sp>
        <p:nvSpPr>
          <p:cNvPr id="22" name="section 4"/>
          <p:cNvSpPr/>
          <p:nvPr/>
        </p:nvSpPr>
        <p:spPr>
          <a:xfrm>
            <a:off x="3909060" y="1417320"/>
            <a:ext cx="1261872" cy="713232"/>
          </a:xfrm>
          <a:prstGeom prst="chevron">
            <a:avLst/>
          </a:prstGeom>
          <a:solidFill>
            <a:srgbClr val="E4F2E9"/>
          </a:solidFill>
          <a:ln w="15875">
            <a:solidFill>
              <a:srgbClr val="006E3C"/>
            </a:solidFill>
            <a:prstDash val="solid"/>
          </a:ln>
        </p:spPr>
      </p:sp>
      <p:sp>
        <p:nvSpPr>
          <p:cNvPr id="23" name="Text 20"/>
          <p:cNvSpPr txBox="1"/>
          <p:nvPr/>
        </p:nvSpPr>
        <p:spPr>
          <a:xfrm>
            <a:off x="4137660" y="1417320"/>
            <a:ext cx="850392" cy="713232"/>
          </a:xfrm>
          <a:prstGeom prst="rect">
            <a:avLst/>
          </a:prstGeom>
          <a:noFill/>
          <a:ln/>
        </p:spPr>
        <p:txBody>
          <a:bodyPr wrap="square" lIns="0" tIns="0" rIns="0" bIns="0" rtlCol="0" anchor="ctr"/>
          <a:lstStyle/>
          <a:p>
            <a:pPr algn="ctr" indent="0" marL="0">
              <a:buNone/>
            </a:pPr>
            <a:r>
              <a:rPr lang="en-US" sz="1000" b="1" dirty="0">
                <a:solidFill>
                  <a:srgbClr val="004D2A"/>
                </a:solidFill>
                <a:latin typeface="Arial" pitchFamily="34" charset="0"/>
                <a:ea typeface="Arial" pitchFamily="34" charset="-122"/>
                <a:cs typeface="Arial" pitchFamily="34" charset="-120"/>
              </a:rPr>
              <a:t>Results</a:t>
            </a:r>
            <a:endParaRPr lang="en-US" sz="1000" dirty="0"/>
          </a:p>
        </p:txBody>
      </p:sp>
      <p:sp>
        <p:nvSpPr>
          <p:cNvPr id="24" name="Text 21"/>
          <p:cNvSpPr txBox="1"/>
          <p:nvPr/>
        </p:nvSpPr>
        <p:spPr>
          <a:xfrm>
            <a:off x="3954780"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The paper's findings and our reproduction</a:t>
            </a:r>
            <a:endParaRPr lang="en-US" sz="1000" dirty="0"/>
          </a:p>
        </p:txBody>
      </p:sp>
      <p:sp>
        <p:nvSpPr>
          <p:cNvPr id="25" name="step 5"/>
          <p:cNvSpPr/>
          <p:nvPr/>
        </p:nvSpPr>
        <p:spPr>
          <a:xfrm>
            <a:off x="5605272" y="987552"/>
            <a:ext cx="274320" cy="274320"/>
          </a:xfrm>
          <a:prstGeom prst="ellipse">
            <a:avLst/>
          </a:prstGeom>
          <a:solidFill>
            <a:srgbClr val="FFFFFF"/>
          </a:solidFill>
          <a:ln w="19050">
            <a:solidFill>
              <a:srgbClr val="006E3C"/>
            </a:solidFill>
            <a:prstDash val="solid"/>
          </a:ln>
        </p:spPr>
      </p:sp>
      <p:sp>
        <p:nvSpPr>
          <p:cNvPr id="26" name="Text 23"/>
          <p:cNvSpPr txBox="1"/>
          <p:nvPr/>
        </p:nvSpPr>
        <p:spPr>
          <a:xfrm>
            <a:off x="5605272"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5</a:t>
            </a:r>
            <a:endParaRPr lang="en-US" sz="1000" dirty="0"/>
          </a:p>
        </p:txBody>
      </p:sp>
      <p:sp>
        <p:nvSpPr>
          <p:cNvPr id="27" name="section 5"/>
          <p:cNvSpPr/>
          <p:nvPr/>
        </p:nvSpPr>
        <p:spPr>
          <a:xfrm>
            <a:off x="5111496" y="1417320"/>
            <a:ext cx="1261872" cy="713232"/>
          </a:xfrm>
          <a:prstGeom prst="chevron">
            <a:avLst/>
          </a:prstGeom>
          <a:solidFill>
            <a:srgbClr val="E4F2E9"/>
          </a:solidFill>
          <a:ln w="15875">
            <a:solidFill>
              <a:srgbClr val="006E3C"/>
            </a:solidFill>
            <a:prstDash val="solid"/>
          </a:ln>
        </p:spPr>
      </p:sp>
      <p:sp>
        <p:nvSpPr>
          <p:cNvPr id="28" name="Text 25"/>
          <p:cNvSpPr txBox="1"/>
          <p:nvPr/>
        </p:nvSpPr>
        <p:spPr>
          <a:xfrm>
            <a:off x="5340096" y="1417320"/>
            <a:ext cx="850392" cy="713232"/>
          </a:xfrm>
          <a:prstGeom prst="rect">
            <a:avLst/>
          </a:prstGeom>
          <a:noFill/>
          <a:ln/>
        </p:spPr>
        <p:txBody>
          <a:bodyPr wrap="square" lIns="0" tIns="0" rIns="0" bIns="0" rtlCol="0" anchor="ctr"/>
          <a:lstStyle/>
          <a:p>
            <a:pPr algn="ctr" indent="0" marL="0">
              <a:buNone/>
            </a:pPr>
            <a:r>
              <a:rPr lang="en-US" sz="1000" b="1" dirty="0">
                <a:solidFill>
                  <a:srgbClr val="004D2A"/>
                </a:solidFill>
                <a:latin typeface="Arial" pitchFamily="34" charset="0"/>
                <a:ea typeface="Arial" pitchFamily="34" charset="-122"/>
                <a:cs typeface="Arial" pitchFamily="34" charset="-120"/>
              </a:rPr>
              <a:t>Novelty</a:t>
            </a:r>
            <a:endParaRPr lang="en-US" sz="1000" dirty="0"/>
          </a:p>
        </p:txBody>
      </p:sp>
      <p:sp>
        <p:nvSpPr>
          <p:cNvPr id="29" name="Text 26"/>
          <p:cNvSpPr txBox="1"/>
          <p:nvPr/>
        </p:nvSpPr>
        <p:spPr>
          <a:xfrm>
            <a:off x="5157216"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What is new in the authors' work</a:t>
            </a:r>
            <a:endParaRPr lang="en-US" sz="1000" dirty="0"/>
          </a:p>
        </p:txBody>
      </p:sp>
      <p:sp>
        <p:nvSpPr>
          <p:cNvPr id="30" name="step 6"/>
          <p:cNvSpPr/>
          <p:nvPr/>
        </p:nvSpPr>
        <p:spPr>
          <a:xfrm>
            <a:off x="6807708" y="987552"/>
            <a:ext cx="274320" cy="274320"/>
          </a:xfrm>
          <a:prstGeom prst="ellipse">
            <a:avLst/>
          </a:prstGeom>
          <a:solidFill>
            <a:srgbClr val="FFFFFF"/>
          </a:solidFill>
          <a:ln w="19050">
            <a:solidFill>
              <a:srgbClr val="006E3C"/>
            </a:solidFill>
            <a:prstDash val="solid"/>
          </a:ln>
        </p:spPr>
      </p:sp>
      <p:sp>
        <p:nvSpPr>
          <p:cNvPr id="31" name="Text 28"/>
          <p:cNvSpPr txBox="1"/>
          <p:nvPr/>
        </p:nvSpPr>
        <p:spPr>
          <a:xfrm>
            <a:off x="6807708"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6</a:t>
            </a:r>
            <a:endParaRPr lang="en-US" sz="1000" dirty="0"/>
          </a:p>
        </p:txBody>
      </p:sp>
      <p:sp>
        <p:nvSpPr>
          <p:cNvPr id="32" name="section 6"/>
          <p:cNvSpPr/>
          <p:nvPr/>
        </p:nvSpPr>
        <p:spPr>
          <a:xfrm>
            <a:off x="6313932" y="1417320"/>
            <a:ext cx="1261872" cy="713232"/>
          </a:xfrm>
          <a:prstGeom prst="chevron">
            <a:avLst/>
          </a:prstGeom>
          <a:solidFill>
            <a:srgbClr val="E4F2E9"/>
          </a:solidFill>
          <a:ln w="15875">
            <a:solidFill>
              <a:srgbClr val="006E3C"/>
            </a:solidFill>
            <a:prstDash val="solid"/>
          </a:ln>
        </p:spPr>
      </p:sp>
      <p:sp>
        <p:nvSpPr>
          <p:cNvPr id="33" name="Text 30"/>
          <p:cNvSpPr txBox="1"/>
          <p:nvPr/>
        </p:nvSpPr>
        <p:spPr>
          <a:xfrm>
            <a:off x="6542532" y="1417320"/>
            <a:ext cx="850392" cy="713232"/>
          </a:xfrm>
          <a:prstGeom prst="rect">
            <a:avLst/>
          </a:prstGeom>
          <a:noFill/>
          <a:ln/>
        </p:spPr>
        <p:txBody>
          <a:bodyPr wrap="square" lIns="0" tIns="0" rIns="0" bIns="0" rtlCol="0" anchor="ctr"/>
          <a:lstStyle/>
          <a:p>
            <a:pPr algn="ctr" indent="0" marL="0">
              <a:buNone/>
            </a:pPr>
            <a:r>
              <a:rPr lang="en-US" sz="1000" b="1" dirty="0">
                <a:solidFill>
                  <a:srgbClr val="004D2A"/>
                </a:solidFill>
                <a:latin typeface="Arial" pitchFamily="34" charset="0"/>
                <a:ea typeface="Arial" pitchFamily="34" charset="-122"/>
                <a:cs typeface="Arial" pitchFamily="34" charset="-120"/>
              </a:rPr>
              <a:t>Our</a:t>
            </a:r>
            <a:endParaRPr lang="en-US" sz="1000" dirty="0"/>
          </a:p>
          <a:p>
            <a:pPr algn="ctr" indent="0" marL="0">
              <a:buNone/>
            </a:pPr>
            <a:r>
              <a:rPr lang="en-US" sz="1000" b="1" dirty="0">
                <a:solidFill>
                  <a:srgbClr val="004D2A"/>
                </a:solidFill>
                <a:latin typeface="Arial" pitchFamily="34" charset="0"/>
                <a:ea typeface="Arial" pitchFamily="34" charset="-122"/>
                <a:cs typeface="Arial" pitchFamily="34" charset="-120"/>
              </a:rPr>
              <a:t>Extension</a:t>
            </a:r>
            <a:endParaRPr lang="en-US" sz="1000" dirty="0"/>
          </a:p>
        </p:txBody>
      </p:sp>
      <p:sp>
        <p:nvSpPr>
          <p:cNvPr id="34" name="Text 31"/>
          <p:cNvSpPr txBox="1"/>
          <p:nvPr/>
        </p:nvSpPr>
        <p:spPr>
          <a:xfrm>
            <a:off x="6359652"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The defender's view: choosing safe settings</a:t>
            </a:r>
            <a:endParaRPr lang="en-US" sz="1000" dirty="0"/>
          </a:p>
        </p:txBody>
      </p:sp>
      <p:sp>
        <p:nvSpPr>
          <p:cNvPr id="35" name="step 7"/>
          <p:cNvSpPr/>
          <p:nvPr/>
        </p:nvSpPr>
        <p:spPr>
          <a:xfrm>
            <a:off x="8010144" y="987552"/>
            <a:ext cx="274320" cy="274320"/>
          </a:xfrm>
          <a:prstGeom prst="ellipse">
            <a:avLst/>
          </a:prstGeom>
          <a:solidFill>
            <a:srgbClr val="FFFFFF"/>
          </a:solidFill>
          <a:ln w="19050">
            <a:solidFill>
              <a:srgbClr val="006E3C"/>
            </a:solidFill>
            <a:prstDash val="solid"/>
          </a:ln>
        </p:spPr>
      </p:sp>
      <p:sp>
        <p:nvSpPr>
          <p:cNvPr id="36" name="Text 33"/>
          <p:cNvSpPr txBox="1"/>
          <p:nvPr/>
        </p:nvSpPr>
        <p:spPr>
          <a:xfrm>
            <a:off x="8010144" y="987552"/>
            <a:ext cx="274320" cy="274320"/>
          </a:xfrm>
          <a:prstGeom prst="rect">
            <a:avLst/>
          </a:prstGeom>
          <a:no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7</a:t>
            </a:r>
            <a:endParaRPr lang="en-US" sz="1000" dirty="0"/>
          </a:p>
        </p:txBody>
      </p:sp>
      <p:sp>
        <p:nvSpPr>
          <p:cNvPr id="37" name="section 7"/>
          <p:cNvSpPr/>
          <p:nvPr/>
        </p:nvSpPr>
        <p:spPr>
          <a:xfrm>
            <a:off x="7516368" y="1417320"/>
            <a:ext cx="1261872" cy="713232"/>
          </a:xfrm>
          <a:prstGeom prst="chevron">
            <a:avLst/>
          </a:prstGeom>
          <a:solidFill>
            <a:srgbClr val="E4F2E9"/>
          </a:solidFill>
          <a:ln w="15875">
            <a:solidFill>
              <a:srgbClr val="006E3C"/>
            </a:solidFill>
            <a:prstDash val="solid"/>
          </a:ln>
        </p:spPr>
      </p:sp>
      <p:sp>
        <p:nvSpPr>
          <p:cNvPr id="38" name="Text 35"/>
          <p:cNvSpPr txBox="1"/>
          <p:nvPr/>
        </p:nvSpPr>
        <p:spPr>
          <a:xfrm>
            <a:off x="7744968" y="1417320"/>
            <a:ext cx="850392" cy="713232"/>
          </a:xfrm>
          <a:prstGeom prst="rect">
            <a:avLst/>
          </a:prstGeom>
          <a:noFill/>
          <a:ln/>
        </p:spPr>
        <p:txBody>
          <a:bodyPr wrap="square" lIns="0" tIns="0" rIns="0" bIns="0" rtlCol="0" anchor="ctr"/>
          <a:lstStyle/>
          <a:p>
            <a:pPr algn="ctr" indent="0" marL="0">
              <a:buNone/>
            </a:pPr>
            <a:r>
              <a:rPr lang="en-US" sz="1000" b="1" dirty="0">
                <a:solidFill>
                  <a:srgbClr val="004D2A"/>
                </a:solidFill>
                <a:latin typeface="Arial" pitchFamily="34" charset="0"/>
                <a:ea typeface="Arial" pitchFamily="34" charset="-122"/>
                <a:cs typeface="Arial" pitchFamily="34" charset="-120"/>
              </a:rPr>
              <a:t>Conclusion</a:t>
            </a:r>
            <a:endParaRPr lang="en-US" sz="1000" dirty="0"/>
          </a:p>
        </p:txBody>
      </p:sp>
      <p:sp>
        <p:nvSpPr>
          <p:cNvPr id="39" name="Text 36"/>
          <p:cNvSpPr txBox="1"/>
          <p:nvPr/>
        </p:nvSpPr>
        <p:spPr>
          <a:xfrm>
            <a:off x="7562088" y="2240280"/>
            <a:ext cx="1170432" cy="822960"/>
          </a:xfrm>
          <a:prstGeom prst="rect">
            <a:avLst/>
          </a:prstGeom>
          <a:noFill/>
          <a:ln/>
        </p:spPr>
        <p:txBody>
          <a:bodyPr wrap="square" lIns="0" tIns="0" rIns="0" bIns="0" rtlCol="0" anchor="t"/>
          <a:lstStyle/>
          <a:p>
            <a:pPr algn="ctr" indent="0" marL="0">
              <a:buNone/>
            </a:pPr>
            <a:r>
              <a:rPr lang="en-US" sz="1000" dirty="0">
                <a:solidFill>
                  <a:srgbClr val="222222"/>
                </a:solidFill>
                <a:latin typeface="Arial" pitchFamily="34" charset="0"/>
                <a:ea typeface="Arial" pitchFamily="34" charset="-122"/>
                <a:cs typeface="Arial" pitchFamily="34" charset="-120"/>
              </a:rPr>
              <a:t>Summary and references</a:t>
            </a:r>
            <a:endParaRPr lang="en-US" sz="1000" dirty="0"/>
          </a:p>
        </p:txBody>
      </p:sp>
      <p:sp>
        <p:nvSpPr>
          <p:cNvPr id="40" name="block body"/>
          <p:cNvSpPr/>
          <p:nvPr/>
        </p:nvSpPr>
        <p:spPr>
          <a:xfrm>
            <a:off x="365760" y="3566160"/>
            <a:ext cx="8412480" cy="868680"/>
          </a:xfrm>
          <a:prstGeom prst="rect">
            <a:avLst/>
          </a:prstGeom>
          <a:solidFill>
            <a:srgbClr val="FBE6E6"/>
          </a:solidFill>
          <a:ln w="12700">
            <a:solidFill>
              <a:srgbClr val="FBE6E6"/>
            </a:solidFill>
            <a:prstDash val="solid"/>
          </a:ln>
          <a:effectLst>
            <a:outerShdw sx="100000" sy="100000" kx="0" ky="0" algn="bl" rotWithShape="0" blurRad="38100" dist="19050" dir="2700000">
              <a:srgbClr val="000000">
                <a:alpha val="25000"/>
              </a:srgbClr>
            </a:outerShdw>
          </a:effectLst>
        </p:spPr>
      </p:sp>
      <p:sp>
        <p:nvSpPr>
          <p:cNvPr id="41" name="block header"/>
          <p:cNvSpPr/>
          <p:nvPr/>
        </p:nvSpPr>
        <p:spPr>
          <a:xfrm>
            <a:off x="365760" y="3566160"/>
            <a:ext cx="8412480" cy="274320"/>
          </a:xfrm>
          <a:prstGeom prst="rect">
            <a:avLst/>
          </a:prstGeom>
          <a:solidFill>
            <a:srgbClr val="C00000"/>
          </a:solidFill>
          <a:ln w="12700">
            <a:solidFill>
              <a:srgbClr val="C00000"/>
            </a:solidFill>
            <a:prstDash val="solid"/>
          </a:ln>
        </p:spPr>
      </p:sp>
      <p:sp>
        <p:nvSpPr>
          <p:cNvPr id="42" name="Text 39"/>
          <p:cNvSpPr txBox="1"/>
          <p:nvPr/>
        </p:nvSpPr>
        <p:spPr>
          <a:xfrm>
            <a:off x="438912" y="3566160"/>
            <a:ext cx="82661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question that runs through the whole talk</a:t>
            </a:r>
            <a:endParaRPr lang="en-US" sz="1300" dirty="0"/>
          </a:p>
        </p:txBody>
      </p:sp>
      <p:sp>
        <p:nvSpPr>
          <p:cNvPr id="43" name="Text 40"/>
          <p:cNvSpPr txBox="1"/>
          <p:nvPr/>
        </p:nvSpPr>
        <p:spPr>
          <a:xfrm>
            <a:off x="457200" y="3895344"/>
            <a:ext cx="8229600" cy="502920"/>
          </a:xfrm>
          <a:prstGeom prst="rect">
            <a:avLst/>
          </a:prstGeom>
          <a:noFill/>
          <a:ln/>
        </p:spPr>
        <p:txBody>
          <a:bodyPr wrap="square" lIns="0" tIns="0" rIns="0" bIns="0" rtlCol="0" anchor="ctr"/>
          <a:lstStyle/>
          <a:p>
            <a:pPr indent="0" marL="0">
              <a:buNone/>
            </a:pPr>
            <a:r>
              <a:rPr lang="en-US" sz="1400" dirty="0">
                <a:solidFill>
                  <a:srgbClr val="222222"/>
                </a:solidFill>
                <a:latin typeface="Arial" pitchFamily="34" charset="0"/>
                <a:ea typeface="Arial" pitchFamily="34" charset="-122"/>
                <a:cs typeface="Arial" pitchFamily="34" charset="-120"/>
              </a:rPr>
              <a:t>How much damage can an attacker cause </a:t>
            </a:r>
            <a:r>
              <a:rPr lang="en-US" sz="1400" b="1" dirty="0">
                <a:solidFill>
                  <a:srgbClr val="222222"/>
                </a:solidFill>
                <a:latin typeface="Arial" pitchFamily="34" charset="0"/>
                <a:ea typeface="Arial" pitchFamily="34" charset="-122"/>
                <a:cs typeface="Arial" pitchFamily="34" charset="-120"/>
              </a:rPr>
              <a:t>only by delaying the controller</a:t>
            </a:r>
            <a:r>
              <a:rPr lang="en-US" sz="1400" dirty="0">
                <a:solidFill>
                  <a:srgbClr val="222222"/>
                </a:solidFill>
                <a:latin typeface="Arial" pitchFamily="34" charset="0"/>
                <a:ea typeface="Arial" pitchFamily="34" charset="-122"/>
                <a:cs typeface="Arial" pitchFamily="34" charset="-120"/>
              </a:rPr>
              <a:t>, while staying completely </a:t>
            </a:r>
            <a:r>
              <a:rPr lang="en-US" sz="1400" b="1" dirty="0">
                <a:solidFill>
                  <a:srgbClr val="222222"/>
                </a:solidFill>
                <a:latin typeface="Arial" pitchFamily="34" charset="0"/>
                <a:ea typeface="Arial" pitchFamily="34" charset="-122"/>
                <a:cs typeface="Arial" pitchFamily="34" charset="-120"/>
              </a:rPr>
              <a:t>undetected</a:t>
            </a:r>
            <a:r>
              <a:rPr lang="en-US" sz="1400" dirty="0">
                <a:solidFill>
                  <a:srgbClr val="222222"/>
                </a:solidFill>
                <a:latin typeface="Arial" pitchFamily="34" charset="0"/>
                <a:ea typeface="Arial" pitchFamily="34" charset="-122"/>
                <a:cs typeface="Arial" pitchFamily="34" charset="-120"/>
              </a:rPr>
              <a:t>?</a:t>
            </a:r>
            <a:endParaRPr lang="en-US" sz="1400" dirty="0"/>
          </a:p>
        </p:txBody>
      </p:sp>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Introduction: Control Loops Run on a Clock</a:t>
            </a:r>
            <a:endParaRPr lang="en-US" sz="2000" dirty="0"/>
          </a:p>
        </p:txBody>
      </p:sp>
      <p:sp>
        <p:nvSpPr>
          <p:cNvPr id="4" name="Text 1"/>
          <p:cNvSpPr txBox="1"/>
          <p:nvPr/>
        </p:nvSpPr>
        <p:spPr>
          <a:xfrm>
            <a:off x="365760" y="658368"/>
            <a:ext cx="475488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22222"/>
                </a:solidFill>
                <a:latin typeface="Arial" pitchFamily="34" charset="0"/>
                <a:ea typeface="Arial" pitchFamily="34" charset="-122"/>
                <a:cs typeface="Arial" pitchFamily="34" charset="-120"/>
              </a:rPr>
              <a:t>A </a:t>
            </a:r>
            <a:r>
              <a:rPr lang="en-US" sz="1300" b="1" dirty="0">
                <a:solidFill>
                  <a:srgbClr val="222222"/>
                </a:solidFill>
                <a:latin typeface="Arial" pitchFamily="34" charset="0"/>
                <a:ea typeface="Arial" pitchFamily="34" charset="-122"/>
                <a:cs typeface="Arial" pitchFamily="34" charset="-120"/>
              </a:rPr>
              <a:t>cyber-physical system</a:t>
            </a:r>
            <a:r>
              <a:rPr lang="en-US" sz="1300" dirty="0">
                <a:solidFill>
                  <a:srgbClr val="222222"/>
                </a:solidFill>
                <a:latin typeface="Arial" pitchFamily="34" charset="0"/>
                <a:ea typeface="Arial" pitchFamily="34" charset="-122"/>
                <a:cs typeface="Arial" pitchFamily="34" charset="-120"/>
              </a:rPr>
              <a:t> couples computation with a physical process: power grids, factories, vehicles, medical devices.</a:t>
            </a:r>
            <a:endParaRPr lang="en-US" sz="1300" dirty="0"/>
          </a:p>
          <a:p>
            <a:pPr marL="177800" indent="-177800">
              <a:spcAft>
                <a:spcPts val="800"/>
              </a:spcAft>
              <a:buSzPct val="100000"/>
              <a:buChar char="•"/>
            </a:pPr>
            <a:r>
              <a:rPr lang="en-US" sz="1300" dirty="0">
                <a:solidFill>
                  <a:srgbClr val="222222"/>
                </a:solidFill>
                <a:latin typeface="Arial" pitchFamily="34" charset="0"/>
                <a:ea typeface="Arial" pitchFamily="34" charset="-122"/>
                <a:cs typeface="Arial" pitchFamily="34" charset="-120"/>
              </a:rPr>
              <a:t>The controller is a </a:t>
            </a:r>
            <a:r>
              <a:rPr lang="en-US" sz="1300" b="1" dirty="0">
                <a:solidFill>
                  <a:srgbClr val="222222"/>
                </a:solidFill>
                <a:latin typeface="Arial" pitchFamily="34" charset="0"/>
                <a:ea typeface="Arial" pitchFamily="34" charset="-122"/>
                <a:cs typeface="Arial" pitchFamily="34" charset="-120"/>
              </a:rPr>
              <a:t>periodic task</a:t>
            </a:r>
            <a:r>
              <a:rPr lang="en-US" sz="1300" dirty="0">
                <a:solidFill>
                  <a:srgbClr val="222222"/>
                </a:solidFill>
                <a:latin typeface="Arial" pitchFamily="34" charset="0"/>
                <a:ea typeface="Arial" pitchFamily="34" charset="-122"/>
                <a:cs typeface="Arial" pitchFamily="34" charset="-120"/>
              </a:rPr>
              <a:t>. Every period h it reads yₖ, computes uₖ₊₁, and must finish before the </a:t>
            </a:r>
            <a:r>
              <a:rPr lang="en-US" sz="1300" b="1" dirty="0">
                <a:solidFill>
                  <a:srgbClr val="222222"/>
                </a:solidFill>
                <a:latin typeface="Arial" pitchFamily="34" charset="0"/>
                <a:ea typeface="Arial" pitchFamily="34" charset="-122"/>
                <a:cs typeface="Arial" pitchFamily="34" charset="-120"/>
              </a:rPr>
              <a:t>deadline</a:t>
            </a:r>
            <a:r>
              <a:rPr lang="en-US" sz="1300" dirty="0">
                <a:solidFill>
                  <a:srgbClr val="222222"/>
                </a:solidFill>
                <a:latin typeface="Arial" pitchFamily="34" charset="0"/>
                <a:ea typeface="Arial" pitchFamily="34" charset="-122"/>
                <a:cs typeface="Arial" pitchFamily="34" charset="-120"/>
              </a:rPr>
              <a:t>.</a:t>
            </a:r>
            <a:endParaRPr lang="en-US" sz="1300" dirty="0"/>
          </a:p>
          <a:p>
            <a:pPr marL="177800" indent="-177800">
              <a:spcAft>
                <a:spcPts val="800"/>
              </a:spcAft>
              <a:buSzPct val="100000"/>
              <a:buChar char="•"/>
            </a:pPr>
            <a:r>
              <a:rPr lang="en-US" sz="1300" dirty="0">
                <a:solidFill>
                  <a:srgbClr val="222222"/>
                </a:solidFill>
                <a:latin typeface="Arial" pitchFamily="34" charset="0"/>
                <a:ea typeface="Arial" pitchFamily="34" charset="-122"/>
                <a:cs typeface="Arial" pitchFamily="34" charset="-120"/>
              </a:rPr>
              <a:t>Famous attacks such as </a:t>
            </a:r>
            <a:r>
              <a:rPr lang="en-US" sz="1300" b="1" dirty="0">
                <a:solidFill>
                  <a:srgbClr val="222222"/>
                </a:solidFill>
                <a:latin typeface="Arial" pitchFamily="34" charset="0"/>
                <a:ea typeface="Arial" pitchFamily="34" charset="-122"/>
                <a:cs typeface="Arial" pitchFamily="34" charset="-120"/>
              </a:rPr>
              <a:t>Stuxnet (2010)</a:t>
            </a:r>
            <a:r>
              <a:rPr lang="en-US" sz="1300" dirty="0">
                <a:solidFill>
                  <a:srgbClr val="222222"/>
                </a:solidFill>
                <a:latin typeface="Arial" pitchFamily="34" charset="0"/>
                <a:ea typeface="Arial" pitchFamily="34" charset="-122"/>
                <a:cs typeface="Arial" pitchFamily="34" charset="-120"/>
              </a:rPr>
              <a:t> and the </a:t>
            </a:r>
            <a:r>
              <a:rPr lang="en-US" sz="1300" b="1" dirty="0">
                <a:solidFill>
                  <a:srgbClr val="222222"/>
                </a:solidFill>
                <a:latin typeface="Arial" pitchFamily="34" charset="0"/>
                <a:ea typeface="Arial" pitchFamily="34" charset="-122"/>
                <a:cs typeface="Arial" pitchFamily="34" charset="-120"/>
              </a:rPr>
              <a:t>German steel mill (2014)</a:t>
            </a:r>
            <a:r>
              <a:rPr lang="en-US" sz="1300" dirty="0">
                <a:solidFill>
                  <a:srgbClr val="222222"/>
                </a:solidFill>
                <a:latin typeface="Arial" pitchFamily="34" charset="0"/>
                <a:ea typeface="Arial" pitchFamily="34" charset="-122"/>
                <a:cs typeface="Arial" pitchFamily="34" charset="-120"/>
              </a:rPr>
              <a:t> manipulated the </a:t>
            </a:r>
            <a:r>
              <a:rPr lang="en-US" sz="1300" i="1" dirty="0">
                <a:solidFill>
                  <a:srgbClr val="222222"/>
                </a:solidFill>
                <a:latin typeface="Arial" pitchFamily="34" charset="0"/>
                <a:ea typeface="Arial" pitchFamily="34" charset="-122"/>
                <a:cs typeface="Arial" pitchFamily="34" charset="-120"/>
              </a:rPr>
              <a:t>data</a:t>
            </a:r>
            <a:r>
              <a:rPr lang="en-US" sz="1300" dirty="0">
                <a:solidFill>
                  <a:srgbClr val="222222"/>
                </a:solidFill>
                <a:latin typeface="Arial" pitchFamily="34" charset="0"/>
                <a:ea typeface="Arial" pitchFamily="34" charset="-122"/>
                <a:cs typeface="Arial" pitchFamily="34" charset="-120"/>
              </a:rPr>
              <a:t>: sensor readings or control signals.</a:t>
            </a:r>
            <a:endParaRPr lang="en-US" sz="1300" dirty="0"/>
          </a:p>
          <a:p>
            <a:pPr marL="177800" indent="-177800">
              <a:spcAft>
                <a:spcPts val="800"/>
              </a:spcAft>
              <a:buSzPct val="100000"/>
              <a:buChar char="•"/>
            </a:pPr>
            <a:r>
              <a:rPr lang="en-US" sz="1300" dirty="0">
                <a:solidFill>
                  <a:srgbClr val="222222"/>
                </a:solidFill>
                <a:latin typeface="Arial" pitchFamily="34" charset="0"/>
                <a:ea typeface="Arial" pitchFamily="34" charset="-122"/>
                <a:cs typeface="Arial" pitchFamily="34" charset="-120"/>
              </a:rPr>
              <a:t>Defences followed: </a:t>
            </a:r>
            <a:r>
              <a:rPr lang="en-US" sz="1300" b="1" dirty="0">
                <a:solidFill>
                  <a:srgbClr val="222222"/>
                </a:solidFill>
                <a:latin typeface="Arial" pitchFamily="34" charset="0"/>
                <a:ea typeface="Arial" pitchFamily="34" charset="-122"/>
                <a:cs typeface="Arial" pitchFamily="34" charset="-120"/>
              </a:rPr>
              <a:t>physics-based detectors</a:t>
            </a:r>
            <a:r>
              <a:rPr lang="en-US" sz="1300" dirty="0">
                <a:solidFill>
                  <a:srgbClr val="222222"/>
                </a:solidFill>
                <a:latin typeface="Arial" pitchFamily="34" charset="0"/>
                <a:ea typeface="Arial" pitchFamily="34" charset="-122"/>
                <a:cs typeface="Arial" pitchFamily="34" charset="-120"/>
              </a:rPr>
              <a:t> check whether y and u agree with the system model.</a:t>
            </a:r>
            <a:endParaRPr lang="en-US" sz="1300" dirty="0"/>
          </a:p>
        </p:txBody>
      </p:sp>
      <p:sp>
        <p:nvSpPr>
          <p:cNvPr id="5" name="block body"/>
          <p:cNvSpPr/>
          <p:nvPr/>
        </p:nvSpPr>
        <p:spPr>
          <a:xfrm>
            <a:off x="365760" y="3547872"/>
            <a:ext cx="4754880" cy="987552"/>
          </a:xfrm>
          <a:prstGeom prst="rect">
            <a:avLst/>
          </a:prstGeom>
          <a:solidFill>
            <a:srgbClr val="FBE6E6"/>
          </a:solidFill>
          <a:ln w="12700">
            <a:solidFill>
              <a:srgbClr val="FBE6E6"/>
            </a:solidFill>
            <a:prstDash val="solid"/>
          </a:ln>
          <a:effectLst>
            <a:outerShdw sx="100000" sy="100000" kx="0" ky="0" algn="bl" rotWithShape="0" blurRad="38100" dist="19050" dir="2700000">
              <a:srgbClr val="000000">
                <a:alpha val="25000"/>
              </a:srgbClr>
            </a:outerShdw>
          </a:effectLst>
        </p:spPr>
      </p:sp>
      <p:sp>
        <p:nvSpPr>
          <p:cNvPr id="6" name="block header"/>
          <p:cNvSpPr/>
          <p:nvPr/>
        </p:nvSpPr>
        <p:spPr>
          <a:xfrm>
            <a:off x="365760" y="3547872"/>
            <a:ext cx="4754880" cy="274320"/>
          </a:xfrm>
          <a:prstGeom prst="rect">
            <a:avLst/>
          </a:prstGeom>
          <a:solidFill>
            <a:srgbClr val="C00000"/>
          </a:solidFill>
          <a:ln w="12700">
            <a:solidFill>
              <a:srgbClr val="C00000"/>
            </a:solidFill>
            <a:prstDash val="solid"/>
          </a:ln>
        </p:spPr>
      </p:sp>
      <p:sp>
        <p:nvSpPr>
          <p:cNvPr id="7" name="Text 4"/>
          <p:cNvSpPr txBox="1"/>
          <p:nvPr/>
        </p:nvSpPr>
        <p:spPr>
          <a:xfrm>
            <a:off x="438912" y="3547872"/>
            <a:ext cx="46085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question this paper asks</a:t>
            </a:r>
            <a:endParaRPr lang="en-US" sz="1300" dirty="0"/>
          </a:p>
        </p:txBody>
      </p:sp>
      <p:sp>
        <p:nvSpPr>
          <p:cNvPr id="8" name="Text 5"/>
          <p:cNvSpPr txBox="1"/>
          <p:nvPr/>
        </p:nvSpPr>
        <p:spPr>
          <a:xfrm>
            <a:off x="457200" y="3877056"/>
            <a:ext cx="4572000" cy="621792"/>
          </a:xfrm>
          <a:prstGeom prst="rect">
            <a:avLst/>
          </a:prstGeom>
          <a:noFill/>
          <a:ln/>
        </p:spPr>
        <p:txBody>
          <a:bodyPr wrap="square" lIns="0" tIns="0" rIns="0" bIns="0" rtlCol="0" anchor="ctr"/>
          <a:lstStyle/>
          <a:p>
            <a:pPr indent="0" marL="0">
              <a:buNone/>
            </a:pPr>
            <a:r>
              <a:rPr lang="en-US" sz="1350" dirty="0">
                <a:solidFill>
                  <a:srgbClr val="222222"/>
                </a:solidFill>
                <a:latin typeface="Arial" pitchFamily="34" charset="0"/>
                <a:ea typeface="Arial" pitchFamily="34" charset="-122"/>
                <a:cs typeface="Arial" pitchFamily="34" charset="-120"/>
              </a:rPr>
              <a:t>What if the attacker never touches the data, and only delays </a:t>
            </a:r>
            <a:r>
              <a:rPr lang="en-US" sz="1350" i="1" dirty="0">
                <a:solidFill>
                  <a:srgbClr val="222222"/>
                </a:solidFill>
                <a:latin typeface="Arial" pitchFamily="34" charset="0"/>
                <a:ea typeface="Arial" pitchFamily="34" charset="-122"/>
                <a:cs typeface="Arial" pitchFamily="34" charset="-120"/>
              </a:rPr>
              <a:t>when</a:t>
            </a:r>
            <a:r>
              <a:rPr lang="en-US" sz="1350" dirty="0">
                <a:solidFill>
                  <a:srgbClr val="222222"/>
                </a:solidFill>
                <a:latin typeface="Arial" pitchFamily="34" charset="0"/>
                <a:ea typeface="Arial" pitchFamily="34" charset="-122"/>
                <a:cs typeface="Arial" pitchFamily="34" charset="-120"/>
              </a:rPr>
              <a:t> the control signal is computed?</a:t>
            </a:r>
            <a:endParaRPr lang="en-US" sz="1350" dirty="0"/>
          </a:p>
        </p:txBody>
      </p:sp>
      <p:pic>
        <p:nvPicPr>
          <p:cNvPr id="9" name="loop" descr="/mnt/project-files/slides/beamer/figures/loop.png">    </p:cNvPr>
          <p:cNvPicPr>
            <a:picLocks noChangeAspect="1"/>
          </p:cNvPicPr>
          <p:nvPr/>
        </p:nvPicPr>
        <p:blipFill>
          <a:blip r:embed="rId1"/>
          <a:stretch>
            <a:fillRect/>
          </a:stretch>
        </p:blipFill>
        <p:spPr>
          <a:xfrm>
            <a:off x="5349240" y="685800"/>
            <a:ext cx="3474720" cy="3464886"/>
          </a:xfrm>
          <a:prstGeom prst="rect">
            <a:avLst/>
          </a:prstGeom>
        </p:spPr>
      </p:pic>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Introduction: Where Delay Attacks Fit</a:t>
            </a:r>
            <a:endParaRPr lang="en-US" sz="2000" dirty="0"/>
          </a:p>
        </p:txBody>
      </p:sp>
      <p:sp>
        <p:nvSpPr>
          <p:cNvPr id="4" name="Text 1"/>
          <p:cNvSpPr txBox="1"/>
          <p:nvPr/>
        </p:nvSpPr>
        <p:spPr>
          <a:xfrm>
            <a:off x="365760" y="621792"/>
            <a:ext cx="3383280" cy="274320"/>
          </a:xfrm>
          <a:prstGeom prst="rect">
            <a:avLst/>
          </a:prstGeom>
          <a:noFill/>
          <a:ln/>
        </p:spPr>
        <p:txBody>
          <a:bodyPr wrap="square" lIns="0" tIns="0" rIns="0" bIns="0" rtlCol="0" anchor="ctr"/>
          <a:lstStyle/>
          <a:p>
            <a:pPr algn="ctr" indent="0" marL="0">
              <a:buNone/>
            </a:pPr>
            <a:r>
              <a:rPr lang="en-US" sz="1250" b="1" dirty="0">
                <a:solidFill>
                  <a:srgbClr val="222222"/>
                </a:solidFill>
                <a:latin typeface="Arial" pitchFamily="34" charset="0"/>
                <a:ea typeface="Arial" pitchFamily="34" charset="-122"/>
                <a:cs typeface="Arial" pitchFamily="34" charset="-120"/>
              </a:rPr>
              <a:t>Taxonomy of CPS attacks </a:t>
            </a:r>
            <a:r>
              <a:rPr lang="en-US" sz="1000" dirty="0">
                <a:solidFill>
                  <a:srgbClr val="5A5A5A"/>
                </a:solidFill>
                <a:latin typeface="Arial" pitchFamily="34" charset="0"/>
                <a:ea typeface="Arial" pitchFamily="34" charset="-122"/>
                <a:cs typeface="Arial" pitchFamily="34" charset="-120"/>
              </a:rPr>
              <a:t>(Teixeira et al.)</a:t>
            </a:r>
            <a:endParaRPr lang="en-US" sz="1250" dirty="0"/>
          </a:p>
        </p:txBody>
      </p:sp>
      <p:pic>
        <p:nvPicPr>
          <p:cNvPr id="5" name="taxonomy" descr="/mnt/project-files/slides/beamer/figures/taxonomy.png">    </p:cNvPr>
          <p:cNvPicPr>
            <a:picLocks noChangeAspect="1"/>
          </p:cNvPicPr>
          <p:nvPr/>
        </p:nvPicPr>
        <p:blipFill>
          <a:blip r:embed="rId1"/>
          <a:stretch>
            <a:fillRect/>
          </a:stretch>
        </p:blipFill>
        <p:spPr>
          <a:xfrm>
            <a:off x="365760" y="932688"/>
            <a:ext cx="3383280" cy="2634918"/>
          </a:xfrm>
          <a:prstGeom prst="rect">
            <a:avLst/>
          </a:prstGeom>
        </p:spPr>
      </p:pic>
      <p:sp>
        <p:nvSpPr>
          <p:cNvPr id="6" name="Text 2"/>
          <p:cNvSpPr txBox="1"/>
          <p:nvPr/>
        </p:nvSpPr>
        <p:spPr>
          <a:xfrm>
            <a:off x="365760" y="3886200"/>
            <a:ext cx="3383280" cy="548640"/>
          </a:xfrm>
          <a:prstGeom prst="rect">
            <a:avLst/>
          </a:prstGeom>
          <a:noFill/>
          <a:ln/>
        </p:spPr>
        <p:txBody>
          <a:bodyPr wrap="square" lIns="0" tIns="0" rIns="0" bIns="0" rtlCol="0" anchor="ctr"/>
          <a:lstStyle/>
          <a:p>
            <a:pPr algn="ctr" indent="0" marL="0">
              <a:buNone/>
            </a:pPr>
            <a:r>
              <a:rPr lang="en-US" sz="1100" dirty="0">
                <a:solidFill>
                  <a:srgbClr val="222222"/>
                </a:solidFill>
                <a:latin typeface="Arial" pitchFamily="34" charset="0"/>
                <a:ea typeface="Arial" pitchFamily="34" charset="-122"/>
                <a:cs typeface="Arial" pitchFamily="34" charset="-120"/>
              </a:rPr>
              <a:t>The paper adds the </a:t>
            </a:r>
            <a:r>
              <a:rPr lang="en-US" sz="1100" b="1" dirty="0">
                <a:solidFill>
                  <a:srgbClr val="C82828"/>
                </a:solidFill>
                <a:latin typeface="Arial" pitchFamily="34" charset="0"/>
                <a:ea typeface="Arial" pitchFamily="34" charset="-122"/>
                <a:cs typeface="Arial" pitchFamily="34" charset="-120"/>
              </a:rPr>
              <a:t>delay attack</a:t>
            </a:r>
            <a:r>
              <a:rPr lang="en-US" sz="1100" dirty="0">
                <a:solidFill>
                  <a:srgbClr val="222222"/>
                </a:solidFill>
                <a:latin typeface="Arial" pitchFamily="34" charset="0"/>
                <a:ea typeface="Arial" pitchFamily="34" charset="-122"/>
                <a:cs typeface="Arial" pitchFamily="34" charset="-120"/>
              </a:rPr>
              <a:t>: it needs only disruption resources, no access to the data.</a:t>
            </a:r>
            <a:endParaRPr lang="en-US" sz="11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3977640" y="640080"/>
          <a:ext cx="4800600" cy="914400"/>
        </p:xfrm>
        <a:graphic>
          <a:graphicData uri="http://schemas.openxmlformats.org/drawingml/2006/table">
            <a:tbl>
              <a:tblPr/>
              <a:tblGrid>
                <a:gridCol w="1325880"/>
                <a:gridCol w="1188720"/>
                <a:gridCol w="1005840"/>
                <a:gridCol w="1280160"/>
              </a:tblGrid>
              <a:tr h="0">
                <a:tc>
                  <a:txBody>
                    <a:bodyPr/>
                    <a:lstStyle/>
                    <a:p>
                      <a:pPr indent="0" marL="0">
                        <a:buNone/>
                      </a:pP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12700" cap="flat" cmpd="sng" algn="ctr">
                      <a:solidFill>
                        <a:srgbClr val="222222"/>
                      </a:solidFill>
                      <a:prstDash val="solid"/>
                      <a:round/>
                      <a:headEnd type="none" w="med" len="med"/>
                      <a:tailEnd type="none" w="med" len="med"/>
                    </a:lnB>
                    <a:solidFill>
                      <a:srgbClr val="FFFFFF"/>
                    </a:solidFill>
                  </a:tcPr>
                </a:tc>
                <a:tc>
                  <a:txBody>
                    <a:bodyPr/>
                    <a:lstStyle/>
                    <a:p>
                      <a:pPr indent="0" marL="0">
                        <a:buNone/>
                      </a:pPr>
                      <a:r>
                        <a:rPr lang="en-US" sz="1050" b="1" dirty="0">
                          <a:solidFill>
                            <a:srgbClr val="222222"/>
                          </a:solidFill>
                          <a:latin typeface="Arial" pitchFamily="34" charset="0"/>
                          <a:ea typeface="Arial" pitchFamily="34" charset="-122"/>
                          <a:cs typeface="Arial" pitchFamily="34" charset="-120"/>
                        </a:rPr>
                        <a:t>False data injection</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12700" cap="flat" cmpd="sng" algn="ctr">
                      <a:solidFill>
                        <a:srgbClr val="222222"/>
                      </a:solidFill>
                      <a:prstDash val="solid"/>
                      <a:round/>
                      <a:headEnd type="none" w="med" len="med"/>
                      <a:tailEnd type="none" w="med" len="med"/>
                    </a:lnB>
                    <a:solidFill>
                      <a:srgbClr val="FFFFFF"/>
                    </a:solidFill>
                  </a:tcPr>
                </a:tc>
                <a:tc>
                  <a:txBody>
                    <a:bodyPr/>
                    <a:lstStyle/>
                    <a:p>
                      <a:pPr indent="0" marL="0">
                        <a:buNone/>
                      </a:pPr>
                      <a:r>
                        <a:rPr lang="en-US" sz="1050" b="1" dirty="0">
                          <a:solidFill>
                            <a:srgbClr val="222222"/>
                          </a:solidFill>
                          <a:latin typeface="Arial" pitchFamily="34" charset="0"/>
                          <a:ea typeface="Arial" pitchFamily="34" charset="-122"/>
                          <a:cs typeface="Arial" pitchFamily="34" charset="-120"/>
                        </a:rPr>
                        <a:t>Denial of service</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12700" cap="flat" cmpd="sng" algn="ctr">
                      <a:solidFill>
                        <a:srgbClr val="222222"/>
                      </a:solidFill>
                      <a:prstDash val="solid"/>
                      <a:round/>
                      <a:headEnd type="none" w="med" len="med"/>
                      <a:tailEnd type="none" w="med" len="med"/>
                    </a:lnB>
                    <a:solidFill>
                      <a:srgbClr val="FFFFFF"/>
                    </a:solidFill>
                  </a:tcPr>
                </a:tc>
                <a:tc>
                  <a:txBody>
                    <a:bodyPr/>
                    <a:lstStyle/>
                    <a:p>
                      <a:pPr indent="0" marL="0">
                        <a:buNone/>
                      </a:pPr>
                      <a:r>
                        <a:rPr lang="en-US" sz="1050" b="1" dirty="0">
                          <a:solidFill>
                            <a:srgbClr val="C82828"/>
                          </a:solidFill>
                          <a:latin typeface="Arial" pitchFamily="34" charset="0"/>
                          <a:ea typeface="Arial" pitchFamily="34" charset="-122"/>
                          <a:cs typeface="Arial" pitchFamily="34" charset="-120"/>
                        </a:rPr>
                        <a:t>Computational delay</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12700" cap="flat" cmpd="sng" algn="ctr">
                      <a:solidFill>
                        <a:srgbClr val="22222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What it changes</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sensor or actuator values</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availability</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i="1" dirty="0">
                          <a:solidFill>
                            <a:srgbClr val="222222"/>
                          </a:solidFill>
                          <a:latin typeface="Arial" pitchFamily="34" charset="0"/>
                          <a:ea typeface="Arial" pitchFamily="34" charset="-122"/>
                          <a:cs typeface="Arial" pitchFamily="34" charset="-120"/>
                        </a:rPr>
                        <a:t>timing of the control job</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Needs to read data?</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b="1" dirty="0">
                          <a:solidFill>
                            <a:srgbClr val="22222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How it looks</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model mismatch</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large and obvious</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like normal timing jitter</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Physics detector catches it?</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often</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b="1" dirty="0">
                          <a:solidFill>
                            <a:srgbClr val="222222"/>
                          </a:solidFill>
                          <a:latin typeface="Arial" pitchFamily="34" charset="0"/>
                          <a:ea typeface="Arial" pitchFamily="34" charset="-122"/>
                          <a:cs typeface="Arial" pitchFamily="34" charset="-120"/>
                        </a:rPr>
                        <a:t>no: y and u stay consistent</a:t>
                      </a:r>
                      <a:endParaRPr lang="en-US" sz="105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tcPr>
                </a:tc>
              </a:tr>
            </a:tbl>
          </a:graphicData>
        </a:graphic>
      </p:graphicFrame>
      <p:sp>
        <p:nvSpPr>
          <p:cNvPr id="8" name="Shape 3"/>
          <p:cNvSpPr/>
          <p:nvPr/>
        </p:nvSpPr>
        <p:spPr>
          <a:xfrm>
            <a:off x="3977640" y="621792"/>
            <a:ext cx="4800600" cy="0"/>
          </a:xfrm>
          <a:prstGeom prst="line">
            <a:avLst/>
          </a:prstGeom>
          <a:noFill/>
          <a:ln w="19050">
            <a:solidFill>
              <a:srgbClr val="222222"/>
            </a:solidFill>
            <a:prstDash val="solid"/>
          </a:ln>
        </p:spPr>
      </p:sp>
      <p:sp>
        <p:nvSpPr>
          <p:cNvPr id="9" name="Shape 4"/>
          <p:cNvSpPr/>
          <p:nvPr/>
        </p:nvSpPr>
        <p:spPr>
          <a:xfrm>
            <a:off x="3977640" y="2743200"/>
            <a:ext cx="4800600" cy="0"/>
          </a:xfrm>
          <a:prstGeom prst="line">
            <a:avLst/>
          </a:prstGeom>
          <a:noFill/>
          <a:ln w="19050">
            <a:solidFill>
              <a:srgbClr val="222222"/>
            </a:solidFill>
            <a:prstDash val="solid"/>
          </a:ln>
        </p:spPr>
      </p:sp>
      <p:sp>
        <p:nvSpPr>
          <p:cNvPr id="10" name="block body"/>
          <p:cNvSpPr/>
          <p:nvPr/>
        </p:nvSpPr>
        <p:spPr>
          <a:xfrm>
            <a:off x="3977640" y="2907792"/>
            <a:ext cx="4800600" cy="164592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11" name="block header"/>
          <p:cNvSpPr/>
          <p:nvPr/>
        </p:nvSpPr>
        <p:spPr>
          <a:xfrm>
            <a:off x="3977640" y="2907792"/>
            <a:ext cx="4800600" cy="274320"/>
          </a:xfrm>
          <a:prstGeom prst="rect">
            <a:avLst/>
          </a:prstGeom>
          <a:solidFill>
            <a:srgbClr val="006E3C"/>
          </a:solidFill>
          <a:ln w="12700">
            <a:solidFill>
              <a:srgbClr val="006E3C"/>
            </a:solidFill>
            <a:prstDash val="solid"/>
          </a:ln>
        </p:spPr>
      </p:sp>
      <p:sp>
        <p:nvSpPr>
          <p:cNvPr id="12" name="Text 7"/>
          <p:cNvSpPr txBox="1"/>
          <p:nvPr/>
        </p:nvSpPr>
        <p:spPr>
          <a:xfrm>
            <a:off x="4050792" y="2907792"/>
            <a:ext cx="465429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Contributions of the paper</a:t>
            </a:r>
            <a:endParaRPr lang="en-US" sz="1300" dirty="0"/>
          </a:p>
        </p:txBody>
      </p:sp>
      <p:sp>
        <p:nvSpPr>
          <p:cNvPr id="13" name="Text 8"/>
          <p:cNvSpPr txBox="1"/>
          <p:nvPr/>
        </p:nvSpPr>
        <p:spPr>
          <a:xfrm>
            <a:off x="4069080" y="3236976"/>
            <a:ext cx="4617720" cy="1280160"/>
          </a:xfrm>
          <a:prstGeom prst="rect">
            <a:avLst/>
          </a:prstGeom>
          <a:noFill/>
          <a:ln/>
        </p:spPr>
        <p:txBody>
          <a:bodyPr wrap="square" lIns="0" tIns="0" rIns="0" bIns="0" rtlCol="0" anchor="ctr"/>
          <a:lstStyle/>
          <a:p>
            <a:pPr marL="177800" indent="-177800">
              <a:spcAft>
                <a:spcPts val="400"/>
              </a:spcAft>
              <a:buSzPct val="100000"/>
              <a:buChar char="•"/>
            </a:pPr>
            <a:r>
              <a:rPr lang="en-US" sz="1250" dirty="0">
                <a:solidFill>
                  <a:srgbClr val="222222"/>
                </a:solidFill>
                <a:latin typeface="Arial" pitchFamily="34" charset="0"/>
                <a:ea typeface="Arial" pitchFamily="34" charset="-122"/>
                <a:cs typeface="Arial" pitchFamily="34" charset="-120"/>
              </a:rPr>
              <a:t>Extends the attack taxonomy with </a:t>
            </a:r>
            <a:r>
              <a:rPr lang="en-US" sz="1250" b="1" dirty="0">
                <a:solidFill>
                  <a:srgbClr val="222222"/>
                </a:solidFill>
                <a:latin typeface="Arial" pitchFamily="34" charset="0"/>
                <a:ea typeface="Arial" pitchFamily="34" charset="-122"/>
                <a:cs typeface="Arial" pitchFamily="34" charset="-120"/>
              </a:rPr>
              <a:t>computational delay attacks</a:t>
            </a:r>
            <a:r>
              <a:rPr lang="en-US" sz="1250" dirty="0">
                <a:solidFill>
                  <a:srgbClr val="222222"/>
                </a:solidFill>
                <a:latin typeface="Arial" pitchFamily="34" charset="0"/>
                <a:ea typeface="Arial" pitchFamily="34" charset="-122"/>
                <a:cs typeface="Arial" pitchFamily="34" charset="-120"/>
              </a:rPr>
              <a:t>.</a:t>
            </a:r>
            <a:endParaRPr lang="en-US" sz="1250" dirty="0"/>
          </a:p>
          <a:p>
            <a:pPr marL="177800" indent="-177800">
              <a:spcAft>
                <a:spcPts val="400"/>
              </a:spcAft>
              <a:buSzPct val="100000"/>
              <a:buChar char="•"/>
            </a:pPr>
            <a:r>
              <a:rPr lang="en-US" sz="1250" dirty="0">
                <a:solidFill>
                  <a:srgbClr val="222222"/>
                </a:solidFill>
                <a:latin typeface="Arial" pitchFamily="34" charset="0"/>
                <a:ea typeface="Arial" pitchFamily="34" charset="-122"/>
                <a:cs typeface="Arial" pitchFamily="34" charset="-120"/>
              </a:rPr>
              <a:t>Finds the </a:t>
            </a:r>
            <a:r>
              <a:rPr lang="en-US" sz="1250" b="1" dirty="0">
                <a:solidFill>
                  <a:srgbClr val="222222"/>
                </a:solidFill>
                <a:latin typeface="Arial" pitchFamily="34" charset="0"/>
                <a:ea typeface="Arial" pitchFamily="34" charset="-122"/>
                <a:cs typeface="Arial" pitchFamily="34" charset="-120"/>
              </a:rPr>
              <a:t>worst-case stealthy attack</a:t>
            </a:r>
            <a:r>
              <a:rPr lang="en-US" sz="1250" dirty="0">
                <a:solidFill>
                  <a:srgbClr val="222222"/>
                </a:solidFill>
                <a:latin typeface="Arial" pitchFamily="34" charset="0"/>
                <a:ea typeface="Arial" pitchFamily="34" charset="-122"/>
                <a:cs typeface="Arial" pitchFamily="34" charset="-120"/>
              </a:rPr>
              <a:t> as an optimisation problem.</a:t>
            </a:r>
            <a:endParaRPr lang="en-US" sz="1250" dirty="0"/>
          </a:p>
          <a:p>
            <a:pPr marL="177800" indent="-177800">
              <a:spcAft>
                <a:spcPts val="400"/>
              </a:spcAft>
              <a:buSzPct val="100000"/>
              <a:buChar char="•"/>
            </a:pPr>
            <a:r>
              <a:rPr lang="en-US" sz="1250" dirty="0">
                <a:solidFill>
                  <a:srgbClr val="222222"/>
                </a:solidFill>
                <a:latin typeface="Arial" pitchFamily="34" charset="0"/>
                <a:ea typeface="Arial" pitchFamily="34" charset="-122"/>
                <a:cs typeface="Arial" pitchFamily="34" charset="-120"/>
              </a:rPr>
              <a:t>Tests it on a </a:t>
            </a:r>
            <a:r>
              <a:rPr lang="en-US" sz="1250" b="1" dirty="0">
                <a:solidFill>
                  <a:srgbClr val="222222"/>
                </a:solidFill>
                <a:latin typeface="Arial" pitchFamily="34" charset="0"/>
                <a:ea typeface="Arial" pitchFamily="34" charset="-122"/>
                <a:cs typeface="Arial" pitchFamily="34" charset="-120"/>
              </a:rPr>
              <a:t>stable</a:t>
            </a:r>
            <a:r>
              <a:rPr lang="en-US" sz="1250" dirty="0">
                <a:solidFill>
                  <a:srgbClr val="222222"/>
                </a:solidFill>
                <a:latin typeface="Arial" pitchFamily="34" charset="0"/>
                <a:ea typeface="Arial" pitchFamily="34" charset="-122"/>
                <a:cs typeface="Arial" pitchFamily="34" charset="-120"/>
              </a:rPr>
              <a:t> and an </a:t>
            </a:r>
            <a:r>
              <a:rPr lang="en-US" sz="1250" b="1" dirty="0">
                <a:solidFill>
                  <a:srgbClr val="222222"/>
                </a:solidFill>
                <a:latin typeface="Arial" pitchFamily="34" charset="0"/>
                <a:ea typeface="Arial" pitchFamily="34" charset="-122"/>
                <a:cs typeface="Arial" pitchFamily="34" charset="-120"/>
              </a:rPr>
              <a:t>unstable</a:t>
            </a:r>
            <a:r>
              <a:rPr lang="en-US" sz="1250" dirty="0">
                <a:solidFill>
                  <a:srgbClr val="222222"/>
                </a:solidFill>
                <a:latin typeface="Arial" pitchFamily="34" charset="0"/>
                <a:ea typeface="Arial" pitchFamily="34" charset="-122"/>
                <a:cs typeface="Arial" pitchFamily="34" charset="-120"/>
              </a:rPr>
              <a:t> plant against realistic detectors.</a:t>
            </a:r>
            <a:endParaRPr lang="en-US" sz="1250" dirty="0"/>
          </a:p>
        </p:txBody>
      </p:sp>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Brief of the Paper: How the Attack Works</a:t>
            </a:r>
            <a:endParaRPr lang="en-US" sz="2000" dirty="0"/>
          </a:p>
        </p:txBody>
      </p:sp>
      <p:sp>
        <p:nvSpPr>
          <p:cNvPr id="4" name="Text 1"/>
          <p:cNvSpPr txBox="1"/>
          <p:nvPr/>
        </p:nvSpPr>
        <p:spPr>
          <a:xfrm>
            <a:off x="365760" y="566928"/>
            <a:ext cx="8412480" cy="713232"/>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rgbClr val="222222"/>
                </a:solidFill>
                <a:latin typeface="Arial" pitchFamily="34" charset="0"/>
                <a:ea typeface="Arial" pitchFamily="34" charset="-122"/>
                <a:cs typeface="Arial" pitchFamily="34" charset="-120"/>
              </a:rPr>
              <a:t>CPU starvation:</a:t>
            </a:r>
            <a:r>
              <a:rPr lang="en-US" sz="1300" dirty="0">
                <a:solidFill>
                  <a:srgbClr val="222222"/>
                </a:solidFill>
                <a:latin typeface="Arial" pitchFamily="34" charset="0"/>
                <a:ea typeface="Arial" pitchFamily="34" charset="-122"/>
                <a:cs typeface="Arial" pitchFamily="34" charset="-120"/>
              </a:rPr>
              <a:t> when a control job starts, the attacker may launch a task that holds the processor, so the job misses its deadline.</a:t>
            </a:r>
            <a:endParaRPr lang="en-US" sz="1300" dirty="0"/>
          </a:p>
          <a:p>
            <a:pPr marL="177800" indent="-177800">
              <a:spcAft>
                <a:spcPts val="400"/>
              </a:spcAft>
              <a:buSzPct val="100000"/>
              <a:buChar char="•"/>
            </a:pPr>
            <a:r>
              <a:rPr lang="en-US" sz="1300" dirty="0">
                <a:solidFill>
                  <a:srgbClr val="222222"/>
                </a:solidFill>
                <a:latin typeface="Arial" pitchFamily="34" charset="0"/>
                <a:ea typeface="Arial" pitchFamily="34" charset="-122"/>
                <a:cs typeface="Arial" pitchFamily="34" charset="-120"/>
              </a:rPr>
              <a:t>Each period the attacker picks aᵢ ∈ {0, 1}:  </a:t>
            </a:r>
            <a:r>
              <a:rPr lang="en-US" sz="1300" b="1" dirty="0">
                <a:solidFill>
                  <a:srgbClr val="2EA05A"/>
                </a:solidFill>
                <a:latin typeface="Arial" pitchFamily="34" charset="0"/>
                <a:ea typeface="Arial" pitchFamily="34" charset="-122"/>
                <a:cs typeface="Arial" pitchFamily="34" charset="-120"/>
              </a:rPr>
              <a:t>0 = deadline hit</a:t>
            </a:r>
            <a:r>
              <a:rPr lang="en-US" sz="1300" dirty="0">
                <a:solidFill>
                  <a:srgbClr val="222222"/>
                </a:solidFill>
                <a:latin typeface="Arial" pitchFamily="34" charset="0"/>
                <a:ea typeface="Arial" pitchFamily="34" charset="-122"/>
                <a:cs typeface="Arial" pitchFamily="34" charset="-120"/>
              </a:rPr>
              <a:t>,  </a:t>
            </a:r>
            <a:r>
              <a:rPr lang="en-US" sz="1300" b="1" dirty="0">
                <a:solidFill>
                  <a:srgbClr val="C82828"/>
                </a:solidFill>
                <a:latin typeface="Arial" pitchFamily="34" charset="0"/>
                <a:ea typeface="Arial" pitchFamily="34" charset="-122"/>
                <a:cs typeface="Arial" pitchFamily="34" charset="-120"/>
              </a:rPr>
              <a:t>1 = forced miss</a:t>
            </a:r>
            <a:r>
              <a:rPr lang="en-US" sz="1300" dirty="0">
                <a:solidFill>
                  <a:srgbClr val="222222"/>
                </a:solidFill>
                <a:latin typeface="Arial" pitchFamily="34" charset="0"/>
                <a:ea typeface="Arial" pitchFamily="34" charset="-122"/>
                <a:cs typeface="Arial" pitchFamily="34" charset="-120"/>
              </a:rPr>
              <a:t>.</a:t>
            </a:r>
            <a:endParaRPr lang="en-US" sz="1300" dirty="0"/>
          </a:p>
        </p:txBody>
      </p:sp>
      <p:pic>
        <p:nvPicPr>
          <p:cNvPr id="5" name="timeline" descr="/mnt/project-files/slides/beamer/figures/timeline.png">    </p:cNvPr>
          <p:cNvPicPr>
            <a:picLocks noChangeAspect="1"/>
          </p:cNvPicPr>
          <p:nvPr/>
        </p:nvPicPr>
        <p:blipFill>
          <a:blip r:embed="rId1"/>
          <a:stretch>
            <a:fillRect/>
          </a:stretch>
        </p:blipFill>
        <p:spPr>
          <a:xfrm>
            <a:off x="426380" y="1325880"/>
            <a:ext cx="4679361" cy="3337560"/>
          </a:xfrm>
          <a:prstGeom prst="rect">
            <a:avLst/>
          </a:prstGeom>
        </p:spPr>
      </p:pic>
      <p:sp>
        <p:nvSpPr>
          <p:cNvPr id="6" name="block body"/>
          <p:cNvSpPr/>
          <p:nvPr/>
        </p:nvSpPr>
        <p:spPr>
          <a:xfrm>
            <a:off x="5440680" y="1371600"/>
            <a:ext cx="3337560" cy="141732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7" name="block header"/>
          <p:cNvSpPr/>
          <p:nvPr/>
        </p:nvSpPr>
        <p:spPr>
          <a:xfrm>
            <a:off x="5440680" y="1371600"/>
            <a:ext cx="3337560" cy="274320"/>
          </a:xfrm>
          <a:prstGeom prst="rect">
            <a:avLst/>
          </a:prstGeom>
          <a:solidFill>
            <a:srgbClr val="006E3C"/>
          </a:solidFill>
          <a:ln w="12700">
            <a:solidFill>
              <a:srgbClr val="006E3C"/>
            </a:solidFill>
            <a:prstDash val="solid"/>
          </a:ln>
        </p:spPr>
      </p:sp>
      <p:sp>
        <p:nvSpPr>
          <p:cNvPr id="8" name="Text 4"/>
          <p:cNvSpPr txBox="1"/>
          <p:nvPr/>
        </p:nvSpPr>
        <p:spPr>
          <a:xfrm>
            <a:off x="5513832" y="1371600"/>
            <a:ext cx="319125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During a miss</a:t>
            </a:r>
            <a:endParaRPr lang="en-US" sz="1300" dirty="0"/>
          </a:p>
        </p:txBody>
      </p:sp>
      <p:sp>
        <p:nvSpPr>
          <p:cNvPr id="9" name="Text 5"/>
          <p:cNvSpPr txBox="1"/>
          <p:nvPr/>
        </p:nvSpPr>
        <p:spPr>
          <a:xfrm>
            <a:off x="5532120" y="1700784"/>
            <a:ext cx="3154680" cy="1051560"/>
          </a:xfrm>
          <a:prstGeom prst="rect">
            <a:avLst/>
          </a:prstGeom>
          <a:noFill/>
          <a:ln/>
        </p:spPr>
        <p:txBody>
          <a:bodyPr wrap="square" lIns="0" tIns="0" rIns="0" bIns="0" rtlCol="0" anchor="ctr"/>
          <a:lstStyle/>
          <a:p>
            <a:pPr marL="177800" indent="-1778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No new control signal is computed.</a:t>
            </a:r>
            <a:endParaRPr lang="en-US" sz="1200" dirty="0"/>
          </a:p>
          <a:p>
            <a:pPr marL="177800" indent="-177800">
              <a:spcAft>
                <a:spcPts val="300"/>
              </a:spcAft>
              <a:buSzPct val="100000"/>
              <a:buChar char="•"/>
            </a:pPr>
            <a:r>
              <a:rPr lang="en-US" sz="1200" b="1" dirty="0">
                <a:solidFill>
                  <a:srgbClr val="222222"/>
                </a:solidFill>
                <a:latin typeface="Arial" pitchFamily="34" charset="0"/>
                <a:ea typeface="Arial" pitchFamily="34" charset="-122"/>
                <a:cs typeface="Arial" pitchFamily="34" charset="-120"/>
              </a:rPr>
              <a:t>Hold:</a:t>
            </a:r>
            <a:r>
              <a:rPr lang="en-US" sz="1200" dirty="0">
                <a:solidFill>
                  <a:srgbClr val="222222"/>
                </a:solidFill>
                <a:latin typeface="Arial" pitchFamily="34" charset="0"/>
                <a:ea typeface="Arial" pitchFamily="34" charset="-122"/>
                <a:cs typeface="Arial" pitchFamily="34" charset="-120"/>
              </a:rPr>
              <a:t> keep the old u.   </a:t>
            </a:r>
            <a:r>
              <a:rPr lang="en-US" sz="1200" b="1" dirty="0">
                <a:solidFill>
                  <a:srgbClr val="222222"/>
                </a:solidFill>
                <a:latin typeface="Arial" pitchFamily="34" charset="0"/>
                <a:ea typeface="Arial" pitchFamily="34" charset="-122"/>
                <a:cs typeface="Arial" pitchFamily="34" charset="-120"/>
              </a:rPr>
              <a:t>Zero:</a:t>
            </a:r>
            <a:r>
              <a:rPr lang="en-US" sz="1200" dirty="0">
                <a:solidFill>
                  <a:srgbClr val="222222"/>
                </a:solidFill>
                <a:latin typeface="Arial" pitchFamily="34" charset="0"/>
                <a:ea typeface="Arial" pitchFamily="34" charset="-122"/>
                <a:cs typeface="Arial" pitchFamily="34" charset="-120"/>
              </a:rPr>
              <a:t> set u = 0.</a:t>
            </a:r>
            <a:endParaRPr lang="en-US" sz="1200" dirty="0"/>
          </a:p>
          <a:p>
            <a:pPr marL="177800" indent="-177800">
              <a:spcAft>
                <a:spcPts val="300"/>
              </a:spcAft>
              <a:buSzPct val="100000"/>
              <a:buChar char="•"/>
            </a:pPr>
            <a:r>
              <a:rPr lang="en-US" sz="1200" dirty="0">
                <a:solidFill>
                  <a:srgbClr val="222222"/>
                </a:solidFill>
                <a:latin typeface="Arial" pitchFamily="34" charset="0"/>
                <a:ea typeface="Arial" pitchFamily="34" charset="-122"/>
                <a:cs typeface="Arial" pitchFamily="34" charset="-120"/>
              </a:rPr>
              <a:t>The late job then uses the </a:t>
            </a:r>
            <a:r>
              <a:rPr lang="en-US" sz="1200" b="1" dirty="0">
                <a:solidFill>
                  <a:srgbClr val="222222"/>
                </a:solidFill>
                <a:latin typeface="Arial" pitchFamily="34" charset="0"/>
                <a:ea typeface="Arial" pitchFamily="34" charset="-122"/>
                <a:cs typeface="Arial" pitchFamily="34" charset="-120"/>
              </a:rPr>
              <a:t>stale</a:t>
            </a:r>
            <a:r>
              <a:rPr lang="en-US" sz="1200" dirty="0">
                <a:solidFill>
                  <a:srgbClr val="222222"/>
                </a:solidFill>
                <a:latin typeface="Arial" pitchFamily="34" charset="0"/>
                <a:ea typeface="Arial" pitchFamily="34" charset="-122"/>
                <a:cs typeface="Arial" pitchFamily="34" charset="-120"/>
              </a:rPr>
              <a:t> measurement ỹₖ.</a:t>
            </a:r>
            <a:endParaRPr lang="en-US" sz="1200" dirty="0"/>
          </a:p>
        </p:txBody>
      </p:sp>
      <p:sp>
        <p:nvSpPr>
          <p:cNvPr id="10" name="block body"/>
          <p:cNvSpPr/>
          <p:nvPr/>
        </p:nvSpPr>
        <p:spPr>
          <a:xfrm>
            <a:off x="5440680" y="2971800"/>
            <a:ext cx="3337560" cy="160020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11" name="block header"/>
          <p:cNvSpPr/>
          <p:nvPr/>
        </p:nvSpPr>
        <p:spPr>
          <a:xfrm>
            <a:off x="5440680" y="2971800"/>
            <a:ext cx="3337560" cy="274320"/>
          </a:xfrm>
          <a:prstGeom prst="rect">
            <a:avLst/>
          </a:prstGeom>
          <a:solidFill>
            <a:srgbClr val="006E3C"/>
          </a:solidFill>
          <a:ln w="12700">
            <a:solidFill>
              <a:srgbClr val="006E3C"/>
            </a:solidFill>
            <a:prstDash val="solid"/>
          </a:ln>
        </p:spPr>
      </p:sp>
      <p:sp>
        <p:nvSpPr>
          <p:cNvPr id="12" name="Text 8"/>
          <p:cNvSpPr txBox="1"/>
          <p:nvPr/>
        </p:nvSpPr>
        <p:spPr>
          <a:xfrm>
            <a:off x="5513832" y="2971800"/>
            <a:ext cx="319125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Closed-loop model</a:t>
            </a:r>
            <a:endParaRPr lang="en-US" sz="1300" dirty="0"/>
          </a:p>
        </p:txBody>
      </p:sp>
      <p:sp>
        <p:nvSpPr>
          <p:cNvPr id="13" name="Text 9"/>
          <p:cNvSpPr txBox="1"/>
          <p:nvPr/>
        </p:nvSpPr>
        <p:spPr>
          <a:xfrm>
            <a:off x="5532120" y="3319272"/>
            <a:ext cx="411480" cy="274320"/>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With</a:t>
            </a:r>
            <a:endParaRPr lang="en-US" sz="1200" dirty="0"/>
          </a:p>
        </p:txBody>
      </p:sp>
      <p:pic>
        <p:nvPicPr>
          <p:cNvPr id="14" name="eq_state" descr="/mnt/project-files/slides/beamer/figures/eq_state.png">    </p:cNvPr>
          <p:cNvPicPr>
            <a:picLocks noChangeAspect="1"/>
          </p:cNvPicPr>
          <p:nvPr/>
        </p:nvPicPr>
        <p:blipFill>
          <a:blip r:embed="rId2"/>
          <a:stretch>
            <a:fillRect/>
          </a:stretch>
        </p:blipFill>
        <p:spPr>
          <a:xfrm>
            <a:off x="5943600" y="3346704"/>
            <a:ext cx="1387204" cy="237744"/>
          </a:xfrm>
          <a:prstGeom prst="rect">
            <a:avLst/>
          </a:prstGeom>
        </p:spPr>
      </p:pic>
      <p:pic>
        <p:nvPicPr>
          <p:cNvPr id="15" name="eq_switch" descr="/mnt/project-files/slides/beamer/figures/eq_switch.png">    </p:cNvPr>
          <p:cNvPicPr>
            <a:picLocks noChangeAspect="1"/>
          </p:cNvPicPr>
          <p:nvPr/>
        </p:nvPicPr>
        <p:blipFill>
          <a:blip r:embed="rId3"/>
          <a:stretch>
            <a:fillRect/>
          </a:stretch>
        </p:blipFill>
        <p:spPr>
          <a:xfrm>
            <a:off x="5768340" y="3758184"/>
            <a:ext cx="2682240" cy="685800"/>
          </a:xfrm>
          <a:prstGeom prst="rect">
            <a:avLst/>
          </a:prstGeom>
        </p:spPr>
      </p:pic>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Brief of the Paper: What the Defender Watches</a:t>
            </a:r>
            <a:endParaRPr lang="en-US" sz="2000" dirty="0"/>
          </a:p>
        </p:txBody>
      </p:sp>
      <p:sp>
        <p:nvSpPr>
          <p:cNvPr id="4" name="Text 1"/>
          <p:cNvSpPr txBox="1"/>
          <p:nvPr/>
        </p:nvSpPr>
        <p:spPr>
          <a:xfrm>
            <a:off x="365760" y="594360"/>
            <a:ext cx="8412480" cy="32004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The defender cannot see a data change, so it watches the </a:t>
            </a:r>
            <a:r>
              <a:rPr lang="en-US" sz="1300" b="1" dirty="0">
                <a:solidFill>
                  <a:srgbClr val="222222"/>
                </a:solidFill>
                <a:latin typeface="Arial" pitchFamily="34" charset="0"/>
                <a:ea typeface="Arial" pitchFamily="34" charset="-122"/>
                <a:cs typeface="Arial" pitchFamily="34" charset="-120"/>
              </a:rPr>
              <a:t>timing</a:t>
            </a:r>
            <a:r>
              <a:rPr lang="en-US" sz="1300" dirty="0">
                <a:solidFill>
                  <a:srgbClr val="222222"/>
                </a:solidFill>
                <a:latin typeface="Arial" pitchFamily="34" charset="0"/>
                <a:ea typeface="Arial" pitchFamily="34" charset="-122"/>
                <a:cs typeface="Arial" pitchFamily="34" charset="-120"/>
              </a:rPr>
              <a:t> of the control task with three checks.</a:t>
            </a:r>
            <a:endParaRPr lang="en-US" sz="1300" dirty="0"/>
          </a:p>
        </p:txBody>
      </p:sp>
      <p:sp>
        <p:nvSpPr>
          <p:cNvPr id="5" name="block body"/>
          <p:cNvSpPr/>
          <p:nvPr/>
        </p:nvSpPr>
        <p:spPr>
          <a:xfrm>
            <a:off x="365760" y="1051560"/>
            <a:ext cx="2697480" cy="246888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6" name="block header"/>
          <p:cNvSpPr/>
          <p:nvPr/>
        </p:nvSpPr>
        <p:spPr>
          <a:xfrm>
            <a:off x="365760" y="1051560"/>
            <a:ext cx="2697480" cy="274320"/>
          </a:xfrm>
          <a:prstGeom prst="rect">
            <a:avLst/>
          </a:prstGeom>
          <a:solidFill>
            <a:srgbClr val="006E3C"/>
          </a:solidFill>
          <a:ln w="12700">
            <a:solidFill>
              <a:srgbClr val="006E3C"/>
            </a:solidFill>
            <a:prstDash val="solid"/>
          </a:ln>
        </p:spPr>
      </p:sp>
      <p:sp>
        <p:nvSpPr>
          <p:cNvPr id="7" name="Text 4"/>
          <p:cNvSpPr txBox="1"/>
          <p:nvPr/>
        </p:nvSpPr>
        <p:spPr>
          <a:xfrm>
            <a:off x="438912" y="1051560"/>
            <a:ext cx="25511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1. Watchdog</a:t>
            </a:r>
            <a:endParaRPr lang="en-US" sz="1300" dirty="0"/>
          </a:p>
        </p:txBody>
      </p:sp>
      <p:pic>
        <p:nvPicPr>
          <p:cNvPr id="8" name="watchdog" descr="/mnt/project-files/slides/beamer/figures/watchdog.png">    </p:cNvPr>
          <p:cNvPicPr>
            <a:picLocks noChangeAspect="1"/>
          </p:cNvPicPr>
          <p:nvPr/>
        </p:nvPicPr>
        <p:blipFill>
          <a:blip r:embed="rId1"/>
          <a:stretch>
            <a:fillRect/>
          </a:stretch>
        </p:blipFill>
        <p:spPr>
          <a:xfrm>
            <a:off x="662007" y="1426464"/>
            <a:ext cx="2104986" cy="731520"/>
          </a:xfrm>
          <a:prstGeom prst="rect">
            <a:avLst/>
          </a:prstGeom>
        </p:spPr>
      </p:pic>
      <p:sp>
        <p:nvSpPr>
          <p:cNvPr id="9" name="Text 5"/>
          <p:cNvSpPr txBox="1"/>
          <p:nvPr/>
        </p:nvSpPr>
        <p:spPr>
          <a:xfrm>
            <a:off x="457200" y="2249424"/>
            <a:ext cx="2514600" cy="777240"/>
          </a:xfrm>
          <a:prstGeom prst="rect">
            <a:avLst/>
          </a:prstGeom>
          <a:noFill/>
          <a:ln/>
        </p:spPr>
        <p:txBody>
          <a:bodyPr wrap="square" lIns="0" tIns="0" rIns="0" bIns="0" rtlCol="0" anchor="t"/>
          <a:lstStyle/>
          <a:p>
            <a:pPr indent="0" marL="0">
              <a:buNone/>
            </a:pPr>
            <a:r>
              <a:rPr lang="en-US" sz="1100" dirty="0">
                <a:solidFill>
                  <a:srgbClr val="222222"/>
                </a:solidFill>
                <a:latin typeface="Arial" pitchFamily="34" charset="0"/>
                <a:ea typeface="Arial" pitchFamily="34" charset="-122"/>
                <a:cs typeface="Arial" pitchFamily="34" charset="-120"/>
              </a:rPr>
              <a:t>Shuts the plant down after ā consecutive misses. In industry ā is usually 3 to 10.</a:t>
            </a:r>
            <a:endParaRPr lang="en-US" sz="1100" dirty="0"/>
          </a:p>
        </p:txBody>
      </p:sp>
      <p:sp>
        <p:nvSpPr>
          <p:cNvPr id="10" name="block body"/>
          <p:cNvSpPr/>
          <p:nvPr/>
        </p:nvSpPr>
        <p:spPr>
          <a:xfrm>
            <a:off x="3223260" y="1051560"/>
            <a:ext cx="2697480" cy="246888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11" name="block header"/>
          <p:cNvSpPr/>
          <p:nvPr/>
        </p:nvSpPr>
        <p:spPr>
          <a:xfrm>
            <a:off x="3223260" y="1051560"/>
            <a:ext cx="2697480" cy="274320"/>
          </a:xfrm>
          <a:prstGeom prst="rect">
            <a:avLst/>
          </a:prstGeom>
          <a:solidFill>
            <a:srgbClr val="006E3C"/>
          </a:solidFill>
          <a:ln w="12700">
            <a:solidFill>
              <a:srgbClr val="006E3C"/>
            </a:solidFill>
            <a:prstDash val="solid"/>
          </a:ln>
        </p:spPr>
      </p:sp>
      <p:sp>
        <p:nvSpPr>
          <p:cNvPr id="12" name="Text 8"/>
          <p:cNvSpPr txBox="1"/>
          <p:nvPr/>
        </p:nvSpPr>
        <p:spPr>
          <a:xfrm>
            <a:off x="3296412" y="1051560"/>
            <a:ext cx="25511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2. Sliding window test</a:t>
            </a:r>
            <a:endParaRPr lang="en-US" sz="1300" dirty="0"/>
          </a:p>
        </p:txBody>
      </p:sp>
      <p:pic>
        <p:nvPicPr>
          <p:cNvPr id="13" name="window" descr="/mnt/project-files/slides/beamer/figures/window.png">    </p:cNvPr>
          <p:cNvPicPr>
            <a:picLocks noChangeAspect="1"/>
          </p:cNvPicPr>
          <p:nvPr/>
        </p:nvPicPr>
        <p:blipFill>
          <a:blip r:embed="rId2"/>
          <a:stretch>
            <a:fillRect/>
          </a:stretch>
        </p:blipFill>
        <p:spPr>
          <a:xfrm>
            <a:off x="3398270" y="1426464"/>
            <a:ext cx="2347460" cy="731520"/>
          </a:xfrm>
          <a:prstGeom prst="rect">
            <a:avLst/>
          </a:prstGeom>
        </p:spPr>
      </p:pic>
      <p:sp>
        <p:nvSpPr>
          <p:cNvPr id="14" name="Text 9"/>
          <p:cNvSpPr txBox="1"/>
          <p:nvPr/>
        </p:nvSpPr>
        <p:spPr>
          <a:xfrm>
            <a:off x="3314700" y="2249424"/>
            <a:ext cx="2514600" cy="777240"/>
          </a:xfrm>
          <a:prstGeom prst="rect">
            <a:avLst/>
          </a:prstGeom>
          <a:noFill/>
          <a:ln/>
        </p:spPr>
        <p:txBody>
          <a:bodyPr wrap="square" lIns="0" tIns="0" rIns="0" bIns="0" rtlCol="0" anchor="t"/>
          <a:lstStyle/>
          <a:p>
            <a:pPr indent="0" marL="0">
              <a:buNone/>
            </a:pPr>
            <a:r>
              <a:rPr lang="en-US" sz="1100" b="1" dirty="0">
                <a:solidFill>
                  <a:srgbClr val="222222"/>
                </a:solidFill>
                <a:latin typeface="Arial" pitchFamily="34" charset="0"/>
                <a:ea typeface="Arial" pitchFamily="34" charset="-122"/>
                <a:cs typeface="Arial" pitchFamily="34" charset="-120"/>
              </a:rPr>
              <a:t>Binomial test</a:t>
            </a:r>
            <a:r>
              <a:rPr lang="en-US" sz="1100" dirty="0">
                <a:solidFill>
                  <a:srgbClr val="222222"/>
                </a:solidFill>
                <a:latin typeface="Arial" pitchFamily="34" charset="0"/>
                <a:ea typeface="Arial" pitchFamily="34" charset="-122"/>
                <a:cs typeface="Arial" pitchFamily="34" charset="-120"/>
              </a:rPr>
              <a:t>: alarm if the misses in the window exceed what the normal miss rate p̂ₘ allows:</a:t>
            </a:r>
            <a:endParaRPr lang="en-US" sz="1100" dirty="0"/>
          </a:p>
        </p:txBody>
      </p:sp>
      <p:pic>
        <p:nvPicPr>
          <p:cNvPr id="15" name="eq_binomial" descr="/mnt/project-files/slides/beamer/figures/eq_binomial.png">    </p:cNvPr>
          <p:cNvPicPr>
            <a:picLocks noChangeAspect="1"/>
          </p:cNvPicPr>
          <p:nvPr/>
        </p:nvPicPr>
        <p:blipFill>
          <a:blip r:embed="rId3"/>
          <a:stretch>
            <a:fillRect/>
          </a:stretch>
        </p:blipFill>
        <p:spPr>
          <a:xfrm>
            <a:off x="3764132" y="3054096"/>
            <a:ext cx="1615736" cy="256032"/>
          </a:xfrm>
          <a:prstGeom prst="rect">
            <a:avLst/>
          </a:prstGeom>
        </p:spPr>
      </p:pic>
      <p:sp>
        <p:nvSpPr>
          <p:cNvPr id="16" name="block body"/>
          <p:cNvSpPr/>
          <p:nvPr/>
        </p:nvSpPr>
        <p:spPr>
          <a:xfrm>
            <a:off x="6080760" y="1051560"/>
            <a:ext cx="2697480" cy="246888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17" name="block header"/>
          <p:cNvSpPr/>
          <p:nvPr/>
        </p:nvSpPr>
        <p:spPr>
          <a:xfrm>
            <a:off x="6080760" y="1051560"/>
            <a:ext cx="2697480" cy="274320"/>
          </a:xfrm>
          <a:prstGeom prst="rect">
            <a:avLst/>
          </a:prstGeom>
          <a:solidFill>
            <a:srgbClr val="006E3C"/>
          </a:solidFill>
          <a:ln w="12700">
            <a:solidFill>
              <a:srgbClr val="006E3C"/>
            </a:solidFill>
            <a:prstDash val="solid"/>
          </a:ln>
        </p:spPr>
      </p:sp>
      <p:sp>
        <p:nvSpPr>
          <p:cNvPr id="18" name="Text 12"/>
          <p:cNvSpPr txBox="1"/>
          <p:nvPr/>
        </p:nvSpPr>
        <p:spPr>
          <a:xfrm>
            <a:off x="6153912" y="1051560"/>
            <a:ext cx="25511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3. Long-term history test</a:t>
            </a:r>
            <a:endParaRPr lang="en-US" sz="1300" dirty="0"/>
          </a:p>
        </p:txBody>
      </p:sp>
      <p:pic>
        <p:nvPicPr>
          <p:cNvPr id="19" name="histogram" descr="/mnt/project-files/slides/beamer/figures/histogram.png">    </p:cNvPr>
          <p:cNvPicPr>
            <a:picLocks noChangeAspect="1"/>
          </p:cNvPicPr>
          <p:nvPr/>
        </p:nvPicPr>
        <p:blipFill>
          <a:blip r:embed="rId4"/>
          <a:stretch>
            <a:fillRect/>
          </a:stretch>
        </p:blipFill>
        <p:spPr>
          <a:xfrm>
            <a:off x="6781081" y="1426464"/>
            <a:ext cx="1296837" cy="1051560"/>
          </a:xfrm>
          <a:prstGeom prst="rect">
            <a:avLst/>
          </a:prstGeom>
        </p:spPr>
      </p:pic>
      <p:sp>
        <p:nvSpPr>
          <p:cNvPr id="20" name="Text 13"/>
          <p:cNvSpPr txBox="1"/>
          <p:nvPr/>
        </p:nvSpPr>
        <p:spPr>
          <a:xfrm>
            <a:off x="6172200" y="2569464"/>
            <a:ext cx="2514600" cy="777240"/>
          </a:xfrm>
          <a:prstGeom prst="rect">
            <a:avLst/>
          </a:prstGeom>
          <a:noFill/>
          <a:ln/>
        </p:spPr>
        <p:txBody>
          <a:bodyPr wrap="square" lIns="0" tIns="0" rIns="0" bIns="0" rtlCol="0" anchor="t"/>
          <a:lstStyle/>
          <a:p>
            <a:pPr indent="0" marL="0">
              <a:buNone/>
            </a:pPr>
            <a:r>
              <a:rPr lang="en-US" sz="1100" dirty="0">
                <a:solidFill>
                  <a:srgbClr val="222222"/>
                </a:solidFill>
                <a:latin typeface="Arial" pitchFamily="34" charset="0"/>
                <a:ea typeface="Arial" pitchFamily="34" charset="-122"/>
                <a:cs typeface="Arial" pitchFamily="34" charset="-120"/>
              </a:rPr>
              <a:t>Counters mᵢ record bursts of i misses since start-up. A </a:t>
            </a:r>
            <a:r>
              <a:rPr lang="en-US" sz="1100" b="1" dirty="0">
                <a:solidFill>
                  <a:srgbClr val="222222"/>
                </a:solidFill>
                <a:latin typeface="Arial" pitchFamily="34" charset="0"/>
                <a:ea typeface="Arial" pitchFamily="34" charset="-122"/>
                <a:cs typeface="Arial" pitchFamily="34" charset="-120"/>
              </a:rPr>
              <a:t>χ² test</a:t>
            </a:r>
            <a:r>
              <a:rPr lang="en-US" sz="1100" dirty="0">
                <a:solidFill>
                  <a:srgbClr val="222222"/>
                </a:solidFill>
                <a:latin typeface="Arial" pitchFamily="34" charset="0"/>
                <a:ea typeface="Arial" pitchFamily="34" charset="-122"/>
                <a:cs typeface="Arial" pitchFamily="34" charset="-120"/>
              </a:rPr>
              <a:t> checks they follow the geometric law Eᵢ = p̂ₘⁱ(1 − p̂ₘ)N.</a:t>
            </a:r>
            <a:endParaRPr lang="en-US" sz="1100" dirty="0"/>
          </a:p>
        </p:txBody>
      </p:sp>
      <p:sp>
        <p:nvSpPr>
          <p:cNvPr id="21" name="block body"/>
          <p:cNvSpPr/>
          <p:nvPr/>
        </p:nvSpPr>
        <p:spPr>
          <a:xfrm>
            <a:off x="365760" y="3703320"/>
            <a:ext cx="8412480" cy="868680"/>
          </a:xfrm>
          <a:prstGeom prst="rect">
            <a:avLst/>
          </a:prstGeom>
          <a:solidFill>
            <a:srgbClr val="FBE6E6"/>
          </a:solidFill>
          <a:ln w="12700">
            <a:solidFill>
              <a:srgbClr val="FBE6E6"/>
            </a:solidFill>
            <a:prstDash val="solid"/>
          </a:ln>
          <a:effectLst>
            <a:outerShdw sx="100000" sy="100000" kx="0" ky="0" algn="bl" rotWithShape="0" blurRad="38100" dist="19050" dir="2700000">
              <a:srgbClr val="000000">
                <a:alpha val="25000"/>
              </a:srgbClr>
            </a:outerShdw>
          </a:effectLst>
        </p:spPr>
      </p:sp>
      <p:sp>
        <p:nvSpPr>
          <p:cNvPr id="22" name="block header"/>
          <p:cNvSpPr/>
          <p:nvPr/>
        </p:nvSpPr>
        <p:spPr>
          <a:xfrm>
            <a:off x="365760" y="3703320"/>
            <a:ext cx="8412480" cy="274320"/>
          </a:xfrm>
          <a:prstGeom prst="rect">
            <a:avLst/>
          </a:prstGeom>
          <a:solidFill>
            <a:srgbClr val="C00000"/>
          </a:solidFill>
          <a:ln w="12700">
            <a:solidFill>
              <a:srgbClr val="C00000"/>
            </a:solidFill>
            <a:prstDash val="solid"/>
          </a:ln>
        </p:spPr>
      </p:sp>
      <p:sp>
        <p:nvSpPr>
          <p:cNvPr id="23" name="Text 16"/>
          <p:cNvSpPr txBox="1"/>
          <p:nvPr/>
        </p:nvSpPr>
        <p:spPr>
          <a:xfrm>
            <a:off x="438912" y="3703320"/>
            <a:ext cx="82661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Stealth requirement</a:t>
            </a:r>
            <a:endParaRPr lang="en-US" sz="1300" dirty="0"/>
          </a:p>
        </p:txBody>
      </p:sp>
      <p:sp>
        <p:nvSpPr>
          <p:cNvPr id="24" name="Text 17"/>
          <p:cNvSpPr txBox="1"/>
          <p:nvPr/>
        </p:nvSpPr>
        <p:spPr>
          <a:xfrm>
            <a:off x="457200" y="4032504"/>
            <a:ext cx="82296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The attack is stealthy only if </a:t>
            </a:r>
            <a:r>
              <a:rPr lang="en-US" sz="1300" b="1" dirty="0">
                <a:solidFill>
                  <a:srgbClr val="222222"/>
                </a:solidFill>
                <a:latin typeface="Arial" pitchFamily="34" charset="0"/>
                <a:ea typeface="Arial" pitchFamily="34" charset="-122"/>
                <a:cs typeface="Arial" pitchFamily="34" charset="-120"/>
              </a:rPr>
              <a:t>none</a:t>
            </a:r>
            <a:r>
              <a:rPr lang="en-US" sz="1300" dirty="0">
                <a:solidFill>
                  <a:srgbClr val="222222"/>
                </a:solidFill>
                <a:latin typeface="Arial" pitchFamily="34" charset="0"/>
                <a:ea typeface="Arial" pitchFamily="34" charset="-122"/>
                <a:cs typeface="Arial" pitchFamily="34" charset="-120"/>
              </a:rPr>
              <a:t> of these checks can reject “the system is behaving normally” at significance level α (the paper uses α = 0.01).</a:t>
            </a:r>
            <a:endParaRPr lang="en-US" sz="1300" dirty="0"/>
          </a:p>
        </p:txBody>
      </p:sp>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Brief of the Paper: The Optimal Stealthy Attack</a:t>
            </a:r>
            <a:endParaRPr lang="en-US" sz="2000" dirty="0"/>
          </a:p>
        </p:txBody>
      </p:sp>
      <p:sp>
        <p:nvSpPr>
          <p:cNvPr id="4" name="block body"/>
          <p:cNvSpPr/>
          <p:nvPr/>
        </p:nvSpPr>
        <p:spPr>
          <a:xfrm>
            <a:off x="365760" y="658368"/>
            <a:ext cx="5212080" cy="2514600"/>
          </a:xfrm>
          <a:prstGeom prst="rect">
            <a:avLst/>
          </a:prstGeom>
          <a:solidFill>
            <a:srgbClr val="E8F0EB"/>
          </a:solidFill>
          <a:ln w="12700">
            <a:solidFill>
              <a:srgbClr val="E8F0EB"/>
            </a:solidFill>
            <a:prstDash val="solid"/>
          </a:ln>
          <a:effectLst>
            <a:outerShdw sx="100000" sy="100000" kx="0" ky="0" algn="bl" rotWithShape="0" blurRad="38100" dist="19050" dir="2700000">
              <a:srgbClr val="000000">
                <a:alpha val="25000"/>
              </a:srgbClr>
            </a:outerShdw>
          </a:effectLst>
        </p:spPr>
      </p:sp>
      <p:sp>
        <p:nvSpPr>
          <p:cNvPr id="5" name="block header"/>
          <p:cNvSpPr/>
          <p:nvPr/>
        </p:nvSpPr>
        <p:spPr>
          <a:xfrm>
            <a:off x="365760" y="658368"/>
            <a:ext cx="5212080" cy="274320"/>
          </a:xfrm>
          <a:prstGeom prst="rect">
            <a:avLst/>
          </a:prstGeom>
          <a:solidFill>
            <a:srgbClr val="006E3C"/>
          </a:solidFill>
          <a:ln w="12700">
            <a:solidFill>
              <a:srgbClr val="006E3C"/>
            </a:solidFill>
            <a:prstDash val="solid"/>
          </a:ln>
        </p:spPr>
      </p:sp>
      <p:sp>
        <p:nvSpPr>
          <p:cNvPr id="6" name="Text 3"/>
          <p:cNvSpPr txBox="1"/>
          <p:nvPr/>
        </p:nvSpPr>
        <p:spPr>
          <a:xfrm>
            <a:off x="438912" y="658368"/>
            <a:ext cx="50657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Attacker’s problem (MIQCP)</a:t>
            </a:r>
            <a:endParaRPr lang="en-US" sz="1300" dirty="0"/>
          </a:p>
        </p:txBody>
      </p:sp>
      <p:pic>
        <p:nvPicPr>
          <p:cNvPr id="7" name="eq_miqcp" descr="/mnt/project-files/slides/beamer/figures/eq_miqcp.png">    </p:cNvPr>
          <p:cNvPicPr>
            <a:picLocks noChangeAspect="1"/>
          </p:cNvPicPr>
          <p:nvPr/>
        </p:nvPicPr>
        <p:blipFill>
          <a:blip r:embed="rId1"/>
          <a:stretch>
            <a:fillRect/>
          </a:stretch>
        </p:blipFill>
        <p:spPr>
          <a:xfrm>
            <a:off x="502920" y="1060704"/>
            <a:ext cx="4937760" cy="1864512"/>
          </a:xfrm>
          <a:prstGeom prst="rect">
            <a:avLst/>
          </a:prstGeom>
        </p:spPr>
      </p:pic>
      <p:sp>
        <p:nvSpPr>
          <p:cNvPr id="8" name="Text 4"/>
          <p:cNvSpPr txBox="1"/>
          <p:nvPr/>
        </p:nvSpPr>
        <p:spPr>
          <a:xfrm>
            <a:off x="365760" y="3310128"/>
            <a:ext cx="5212080" cy="1188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22222"/>
                </a:solidFill>
                <a:latin typeface="Arial" pitchFamily="34" charset="0"/>
                <a:ea typeface="Arial" pitchFamily="34" charset="-122"/>
                <a:cs typeface="Arial" pitchFamily="34" charset="-120"/>
              </a:rPr>
              <a:t>Binary choices plus quadratic terms: a </a:t>
            </a:r>
            <a:r>
              <a:rPr lang="en-US" sz="1250" b="1" dirty="0">
                <a:solidFill>
                  <a:srgbClr val="222222"/>
                </a:solidFill>
                <a:latin typeface="Arial" pitchFamily="34" charset="0"/>
                <a:ea typeface="Arial" pitchFamily="34" charset="-122"/>
                <a:cs typeface="Arial" pitchFamily="34" charset="-120"/>
              </a:rPr>
              <a:t>Mixed Integer Quadratically Constrained Program</a:t>
            </a:r>
            <a:r>
              <a:rPr lang="en-US" sz="1250" dirty="0">
                <a:solidFill>
                  <a:srgbClr val="222222"/>
                </a:solidFill>
                <a:latin typeface="Arial" pitchFamily="34" charset="0"/>
                <a:ea typeface="Arial" pitchFamily="34" charset="-122"/>
                <a:cs typeface="Arial" pitchFamily="34" charset="-120"/>
              </a:rPr>
              <a:t>, solved with </a:t>
            </a:r>
            <a:r>
              <a:rPr lang="en-US" sz="1250" b="1" dirty="0">
                <a:solidFill>
                  <a:srgbClr val="222222"/>
                </a:solidFill>
                <a:latin typeface="Arial" pitchFamily="34" charset="0"/>
                <a:ea typeface="Arial" pitchFamily="34" charset="-122"/>
                <a:cs typeface="Arial" pitchFamily="34" charset="-120"/>
              </a:rPr>
              <a:t>Gurobi</a:t>
            </a:r>
            <a:r>
              <a:rPr lang="en-US" sz="1250" dirty="0">
                <a:solidFill>
                  <a:srgbClr val="222222"/>
                </a:solidFill>
                <a:latin typeface="Arial" pitchFamily="34" charset="0"/>
                <a:ea typeface="Arial" pitchFamily="34" charset="-122"/>
                <a:cs typeface="Arial" pitchFamily="34" charset="-120"/>
              </a:rPr>
              <a:t>.</a:t>
            </a:r>
            <a:endParaRPr lang="en-US" sz="1250" dirty="0"/>
          </a:p>
          <a:p>
            <a:pPr marL="177800" indent="-177800">
              <a:buSzPct val="100000"/>
              <a:buChar char="•"/>
            </a:pPr>
            <a:r>
              <a:rPr lang="en-US" sz="1250" dirty="0">
                <a:solidFill>
                  <a:srgbClr val="222222"/>
                </a:solidFill>
                <a:latin typeface="Arial" pitchFamily="34" charset="0"/>
                <a:ea typeface="Arial" pitchFamily="34" charset="-122"/>
                <a:cs typeface="Arial" pitchFamily="34" charset="-120"/>
              </a:rPr>
              <a:t>The answer is a schedule of misses, e.g. </a:t>
            </a:r>
            <a:r>
              <a:rPr lang="en-US" sz="1250" b="1" dirty="0">
                <a:solidFill>
                  <a:srgbClr val="C82828"/>
                </a:solidFill>
                <a:latin typeface="Courier New" pitchFamily="34" charset="0"/>
                <a:ea typeface="Courier New" pitchFamily="34" charset="-122"/>
                <a:cs typeface="Courier New" pitchFamily="34" charset="-120"/>
              </a:rPr>
              <a:t>1</a:t>
            </a:r>
            <a:r>
              <a:rPr lang="en-US" sz="1250" dirty="0">
                <a:solidFill>
                  <a:srgbClr val="222222"/>
                </a:solidFill>
                <a:latin typeface="Courier New" pitchFamily="34" charset="0"/>
                <a:ea typeface="Courier New" pitchFamily="34" charset="-122"/>
                <a:cs typeface="Courier New" pitchFamily="34" charset="-120"/>
              </a:rPr>
              <a:t>0</a:t>
            </a:r>
            <a:r>
              <a:rPr lang="en-US" sz="1250" b="1" dirty="0">
                <a:solidFill>
                  <a:srgbClr val="C82828"/>
                </a:solidFill>
                <a:latin typeface="Courier New" pitchFamily="34" charset="0"/>
                <a:ea typeface="Courier New" pitchFamily="34" charset="-122"/>
                <a:cs typeface="Courier New" pitchFamily="34" charset="-120"/>
              </a:rPr>
              <a:t>1</a:t>
            </a:r>
            <a:r>
              <a:rPr lang="en-US" sz="1250" dirty="0">
                <a:solidFill>
                  <a:srgbClr val="222222"/>
                </a:solidFill>
                <a:latin typeface="Courier New" pitchFamily="34" charset="0"/>
                <a:ea typeface="Courier New" pitchFamily="34" charset="-122"/>
                <a:cs typeface="Courier New" pitchFamily="34" charset="-120"/>
              </a:rPr>
              <a:t>0</a:t>
            </a:r>
            <a:r>
              <a:rPr lang="en-US" sz="1250" b="1" dirty="0">
                <a:solidFill>
                  <a:srgbClr val="C82828"/>
                </a:solidFill>
                <a:latin typeface="Courier New" pitchFamily="34" charset="0"/>
                <a:ea typeface="Courier New" pitchFamily="34" charset="-122"/>
                <a:cs typeface="Courier New" pitchFamily="34" charset="-120"/>
              </a:rPr>
              <a:t>1</a:t>
            </a:r>
            <a:r>
              <a:rPr lang="en-US" sz="1250" b="1" dirty="0">
                <a:solidFill>
                  <a:srgbClr val="C82828"/>
                </a:solidFill>
                <a:latin typeface="Courier New" pitchFamily="34" charset="0"/>
                <a:ea typeface="Courier New" pitchFamily="34" charset="-122"/>
                <a:cs typeface="Courier New" pitchFamily="34" charset="-120"/>
              </a:rPr>
              <a:t>1</a:t>
            </a:r>
            <a:r>
              <a:rPr lang="en-US" sz="1250" dirty="0">
                <a:solidFill>
                  <a:srgbClr val="222222"/>
                </a:solidFill>
                <a:latin typeface="Courier New" pitchFamily="34" charset="0"/>
                <a:ea typeface="Courier New" pitchFamily="34" charset="-122"/>
                <a:cs typeface="Courier New" pitchFamily="34" charset="-120"/>
              </a:rPr>
              <a:t>0</a:t>
            </a:r>
            <a:r>
              <a:rPr lang="en-US" sz="1250" b="1" dirty="0">
                <a:solidFill>
                  <a:srgbClr val="C82828"/>
                </a:solidFill>
                <a:latin typeface="Courier New" pitchFamily="34" charset="0"/>
                <a:ea typeface="Courier New" pitchFamily="34" charset="-122"/>
                <a:cs typeface="Courier New" pitchFamily="34" charset="-120"/>
              </a:rPr>
              <a:t>1</a:t>
            </a:r>
            <a:r>
              <a:rPr lang="en-US" sz="1250" b="1" dirty="0">
                <a:solidFill>
                  <a:srgbClr val="C82828"/>
                </a:solidFill>
                <a:latin typeface="Courier New" pitchFamily="34" charset="0"/>
                <a:ea typeface="Courier New" pitchFamily="34" charset="-122"/>
                <a:cs typeface="Courier New" pitchFamily="34" charset="-120"/>
              </a:rPr>
              <a:t>1</a:t>
            </a:r>
            <a:r>
              <a:rPr lang="en-US" sz="1250" b="1" dirty="0">
                <a:solidFill>
                  <a:srgbClr val="C82828"/>
                </a:solidFill>
                <a:latin typeface="Courier New" pitchFamily="34" charset="0"/>
                <a:ea typeface="Courier New" pitchFamily="34" charset="-122"/>
                <a:cs typeface="Courier New" pitchFamily="34" charset="-120"/>
              </a:rPr>
              <a:t>1</a:t>
            </a:r>
            <a:r>
              <a:rPr lang="en-US" sz="1250" dirty="0">
                <a:solidFill>
                  <a:srgbClr val="222222"/>
                </a:solidFill>
                <a:latin typeface="Courier New" pitchFamily="34" charset="0"/>
                <a:ea typeface="Courier New" pitchFamily="34" charset="-122"/>
                <a:cs typeface="Courier New" pitchFamily="34" charset="-120"/>
              </a:rPr>
              <a:t>0</a:t>
            </a:r>
            <a:r>
              <a:rPr lang="en-US" sz="1250" b="1" dirty="0">
                <a:solidFill>
                  <a:srgbClr val="C82828"/>
                </a:solidFill>
                <a:latin typeface="Courier New" pitchFamily="34" charset="0"/>
                <a:ea typeface="Courier New" pitchFamily="34" charset="-122"/>
                <a:cs typeface="Courier New" pitchFamily="34" charset="-120"/>
              </a:rPr>
              <a:t>1</a:t>
            </a:r>
            <a:r>
              <a:rPr lang="en-US" sz="1250" dirty="0">
                <a:solidFill>
                  <a:srgbClr val="222222"/>
                </a:solidFill>
                <a:latin typeface="Courier New" pitchFamily="34" charset="0"/>
                <a:ea typeface="Courier New" pitchFamily="34" charset="-122"/>
                <a:cs typeface="Courier New" pitchFamily="34" charset="-120"/>
              </a:rPr>
              <a:t>0</a:t>
            </a:r>
            <a:r>
              <a:rPr lang="en-US" sz="1250" dirty="0">
                <a:solidFill>
                  <a:srgbClr val="222222"/>
                </a:solidFill>
                <a:latin typeface="Courier New" pitchFamily="34" charset="0"/>
                <a:ea typeface="Courier New" pitchFamily="34" charset="-122"/>
                <a:cs typeface="Courier New" pitchFamily="34" charset="-120"/>
              </a:rPr>
              <a:t>0</a:t>
            </a:r>
            <a:r>
              <a:rPr lang="en-US" sz="1250" dirty="0">
                <a:solidFill>
                  <a:srgbClr val="222222"/>
                </a:solidFill>
                <a:latin typeface="Courier New" pitchFamily="34" charset="0"/>
                <a:ea typeface="Courier New" pitchFamily="34" charset="-122"/>
                <a:cs typeface="Courier New" pitchFamily="34" charset="-120"/>
              </a:rPr>
              <a:t>0</a:t>
            </a:r>
            <a:endParaRPr lang="en-US" sz="1250" dirty="0"/>
          </a:p>
        </p:txBody>
      </p:sp>
      <p:sp>
        <p:nvSpPr>
          <p:cNvPr id="9" name="Text 5"/>
          <p:cNvSpPr txBox="1"/>
          <p:nvPr/>
        </p:nvSpPr>
        <p:spPr>
          <a:xfrm>
            <a:off x="5806440" y="603504"/>
            <a:ext cx="2971800" cy="274320"/>
          </a:xfrm>
          <a:prstGeom prst="rect">
            <a:avLst/>
          </a:prstGeom>
          <a:noFill/>
          <a:ln/>
        </p:spPr>
        <p:txBody>
          <a:bodyPr wrap="square" lIns="0" tIns="0" rIns="0" bIns="0" rtlCol="0" anchor="ctr"/>
          <a:lstStyle/>
          <a:p>
            <a:pPr algn="ctr" indent="0" marL="0">
              <a:buNone/>
            </a:pPr>
            <a:r>
              <a:rPr lang="en-US" sz="1300" b="1" dirty="0">
                <a:solidFill>
                  <a:srgbClr val="222222"/>
                </a:solidFill>
                <a:latin typeface="Arial" pitchFamily="34" charset="0"/>
                <a:ea typeface="Arial" pitchFamily="34" charset="-122"/>
                <a:cs typeface="Arial" pitchFamily="34" charset="-120"/>
              </a:rPr>
              <a:t>Two test plants</a:t>
            </a:r>
            <a:endParaRPr lang="en-US" sz="1300" dirty="0"/>
          </a:p>
        </p:txBody>
      </p:sp>
      <p:pic>
        <p:nvPicPr>
          <p:cNvPr id="10" name="tank" descr="/mnt/project-files/slides/beamer/figures/tank.png">    </p:cNvPr>
          <p:cNvPicPr>
            <a:picLocks noChangeAspect="1"/>
          </p:cNvPicPr>
          <p:nvPr/>
        </p:nvPicPr>
        <p:blipFill>
          <a:blip r:embed="rId2"/>
          <a:stretch>
            <a:fillRect/>
          </a:stretch>
        </p:blipFill>
        <p:spPr>
          <a:xfrm>
            <a:off x="6576791" y="914400"/>
            <a:ext cx="1431099" cy="1371600"/>
          </a:xfrm>
          <a:prstGeom prst="rect">
            <a:avLst/>
          </a:prstGeom>
        </p:spPr>
      </p:pic>
      <p:sp>
        <p:nvSpPr>
          <p:cNvPr id="11" name="Text 6"/>
          <p:cNvSpPr txBox="1"/>
          <p:nvPr/>
        </p:nvSpPr>
        <p:spPr>
          <a:xfrm>
            <a:off x="5715000" y="2331720"/>
            <a:ext cx="3154680" cy="365760"/>
          </a:xfrm>
          <a:prstGeom prst="rect">
            <a:avLst/>
          </a:prstGeom>
          <a:noFill/>
          <a:ln/>
        </p:spPr>
        <p:txBody>
          <a:bodyPr wrap="square" lIns="0" tIns="0" rIns="0" bIns="0" rtlCol="0" anchor="ctr"/>
          <a:lstStyle/>
          <a:p>
            <a:pPr algn="ctr" indent="0" marL="0">
              <a:buNone/>
            </a:pPr>
            <a:r>
              <a:rPr lang="en-US" sz="1050" b="1" dirty="0">
                <a:solidFill>
                  <a:srgbClr val="222222"/>
                </a:solidFill>
                <a:latin typeface="Arial" pitchFamily="34" charset="0"/>
                <a:ea typeface="Arial" pitchFamily="34" charset="-122"/>
                <a:cs typeface="Arial" pitchFamily="34" charset="-120"/>
              </a:rPr>
              <a:t>Quadruple tank</a:t>
            </a:r>
            <a:r>
              <a:rPr lang="en-US" sz="1050" dirty="0">
                <a:solidFill>
                  <a:srgbClr val="222222"/>
                </a:solidFill>
                <a:latin typeface="Arial" pitchFamily="34" charset="0"/>
                <a:ea typeface="Arial" pitchFamily="34" charset="-122"/>
                <a:cs typeface="Arial" pitchFamily="34" charset="-120"/>
              </a:rPr>
              <a:t>: stable, simulated, LQG, h = 0.1 s, hold</a:t>
            </a:r>
            <a:endParaRPr lang="en-US" sz="1050" dirty="0"/>
          </a:p>
        </p:txBody>
      </p:sp>
      <p:pic>
        <p:nvPicPr>
          <p:cNvPr id="12" name="furuta" descr="/mnt/project-files/slides/beamer/figures/furuta.png">    </p:cNvPr>
          <p:cNvPicPr>
            <a:picLocks noChangeAspect="1"/>
          </p:cNvPicPr>
          <p:nvPr/>
        </p:nvPicPr>
        <p:blipFill>
          <a:blip r:embed="rId3"/>
          <a:stretch>
            <a:fillRect/>
          </a:stretch>
        </p:blipFill>
        <p:spPr>
          <a:xfrm>
            <a:off x="6419458" y="2788920"/>
            <a:ext cx="1745764" cy="1234440"/>
          </a:xfrm>
          <a:prstGeom prst="rect">
            <a:avLst/>
          </a:prstGeom>
        </p:spPr>
      </p:pic>
      <p:sp>
        <p:nvSpPr>
          <p:cNvPr id="13" name="Text 7"/>
          <p:cNvSpPr txBox="1"/>
          <p:nvPr/>
        </p:nvSpPr>
        <p:spPr>
          <a:xfrm>
            <a:off x="5715000" y="4069080"/>
            <a:ext cx="3154680" cy="411480"/>
          </a:xfrm>
          <a:prstGeom prst="rect">
            <a:avLst/>
          </a:prstGeom>
          <a:noFill/>
          <a:ln/>
        </p:spPr>
        <p:txBody>
          <a:bodyPr wrap="square" lIns="0" tIns="0" rIns="0" bIns="0" rtlCol="0" anchor="ctr"/>
          <a:lstStyle/>
          <a:p>
            <a:pPr algn="ctr" indent="0" marL="0">
              <a:buNone/>
            </a:pPr>
            <a:r>
              <a:rPr lang="en-US" sz="1050" b="1" dirty="0">
                <a:solidFill>
                  <a:srgbClr val="222222"/>
                </a:solidFill>
                <a:latin typeface="Arial" pitchFamily="34" charset="0"/>
                <a:ea typeface="Arial" pitchFamily="34" charset="-122"/>
                <a:cs typeface="Arial" pitchFamily="34" charset="-120"/>
              </a:rPr>
              <a:t>Furuta pendulum</a:t>
            </a:r>
            <a:r>
              <a:rPr lang="en-US" sz="1050" dirty="0">
                <a:solidFill>
                  <a:srgbClr val="222222"/>
                </a:solidFill>
                <a:latin typeface="Arial" pitchFamily="34" charset="0"/>
                <a:ea typeface="Arial" pitchFamily="34" charset="-122"/>
                <a:cs typeface="Arial" pitchFamily="34" charset="-120"/>
              </a:rPr>
              <a:t>: unstable, real hardware, LQR, h = 5 ms, hold and zero</a:t>
            </a:r>
            <a:endParaRPr lang="en-US" sz="1050" dirty="0"/>
          </a:p>
        </p:txBody>
      </p:sp>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4" type="title" hasCustomPrompt="1"/>
          </p:nvPr>
        </p:nvSpPr>
        <p:spPr>
          <a:xfrm>
            <a:off x="228600" y="0"/>
            <a:ext cx="8686800" cy="475488"/>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Key Takeaways</a:t>
            </a:r>
            <a:endParaRPr lang="en-US" sz="2000" dirty="0"/>
          </a:p>
        </p:txBody>
      </p:sp>
      <p:sp>
        <p:nvSpPr>
          <p:cNvPr id="4" name="takeaway 1"/>
          <p:cNvSpPr/>
          <p:nvPr/>
        </p:nvSpPr>
        <p:spPr>
          <a:xfrm>
            <a:off x="384048" y="658368"/>
            <a:ext cx="329184" cy="329184"/>
          </a:xfrm>
          <a:prstGeom prst="ellipse">
            <a:avLst/>
          </a:prstGeom>
          <a:solidFill>
            <a:srgbClr val="006E3C"/>
          </a:solidFill>
          <a:ln>
            <a:solidFill>
              <a:srgbClr val="006E3C"/>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 name="Text 2"/>
          <p:cNvSpPr txBox="1"/>
          <p:nvPr/>
        </p:nvSpPr>
        <p:spPr>
          <a:xfrm>
            <a:off x="868680" y="621792"/>
            <a:ext cx="4572000" cy="731520"/>
          </a:xfrm>
          <a:prstGeom prst="rect">
            <a:avLst/>
          </a:prstGeom>
          <a:noFill/>
          <a:ln/>
        </p:spPr>
        <p:txBody>
          <a:bodyPr wrap="square" lIns="0" tIns="0" rIns="0" bIns="0" rtlCol="0" anchor="t"/>
          <a:lstStyle/>
          <a:p>
            <a:pPr indent="0" marL="0">
              <a:buNone/>
            </a:pPr>
            <a:r>
              <a:rPr lang="en-US" sz="1350" b="1" dirty="0">
                <a:solidFill>
                  <a:srgbClr val="006E3C"/>
                </a:solidFill>
                <a:latin typeface="Arial" pitchFamily="34" charset="0"/>
                <a:ea typeface="Arial" pitchFamily="34" charset="-122"/>
                <a:cs typeface="Arial" pitchFamily="34" charset="-120"/>
              </a:rPr>
              <a:t>Timing is an attack surface</a:t>
            </a:r>
            <a:endParaRPr lang="en-US" sz="1350" dirty="0"/>
          </a:p>
          <a:p>
            <a:pPr indent="0" marL="0">
              <a:buNone/>
            </a:pPr>
            <a:r>
              <a:rPr lang="en-US" sz="1150" dirty="0">
                <a:solidFill>
                  <a:srgbClr val="222222"/>
                </a:solidFill>
                <a:latin typeface="Arial" pitchFamily="34" charset="0"/>
                <a:ea typeface="Arial" pitchFamily="34" charset="-122"/>
                <a:cs typeface="Arial" pitchFamily="34" charset="-120"/>
              </a:rPr>
              <a:t>No data is altered, so physics-based detectors stay silent. The attacker needs no access to sensor values.</a:t>
            </a:r>
            <a:endParaRPr lang="en-US" sz="1350" dirty="0"/>
          </a:p>
        </p:txBody>
      </p:sp>
      <p:sp>
        <p:nvSpPr>
          <p:cNvPr id="6" name="takeaway 2"/>
          <p:cNvSpPr/>
          <p:nvPr/>
        </p:nvSpPr>
        <p:spPr>
          <a:xfrm>
            <a:off x="384048" y="1444752"/>
            <a:ext cx="329184" cy="329184"/>
          </a:xfrm>
          <a:prstGeom prst="ellipse">
            <a:avLst/>
          </a:prstGeom>
          <a:solidFill>
            <a:srgbClr val="006E3C"/>
          </a:solidFill>
          <a:ln>
            <a:solidFill>
              <a:srgbClr val="006E3C"/>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7" name="Text 4"/>
          <p:cNvSpPr txBox="1"/>
          <p:nvPr/>
        </p:nvSpPr>
        <p:spPr>
          <a:xfrm>
            <a:off x="868680" y="1408176"/>
            <a:ext cx="4572000" cy="731520"/>
          </a:xfrm>
          <a:prstGeom prst="rect">
            <a:avLst/>
          </a:prstGeom>
          <a:noFill/>
          <a:ln/>
        </p:spPr>
        <p:txBody>
          <a:bodyPr wrap="square" lIns="0" tIns="0" rIns="0" bIns="0" rtlCol="0" anchor="t"/>
          <a:lstStyle/>
          <a:p>
            <a:pPr indent="0" marL="0">
              <a:buNone/>
            </a:pPr>
            <a:r>
              <a:rPr lang="en-US" sz="1350" b="1" dirty="0">
                <a:solidFill>
                  <a:srgbClr val="006E3C"/>
                </a:solidFill>
                <a:latin typeface="Arial" pitchFamily="34" charset="0"/>
                <a:ea typeface="Arial" pitchFamily="34" charset="-122"/>
                <a:cs typeface="Arial" pitchFamily="34" charset="-120"/>
              </a:rPr>
              <a:t>Watchdogs give little protection</a:t>
            </a:r>
            <a:endParaRPr lang="en-US" sz="1350" dirty="0"/>
          </a:p>
          <a:p>
            <a:pPr indent="0" marL="0">
              <a:buNone/>
            </a:pPr>
            <a:r>
              <a:rPr lang="en-US" sz="1150" dirty="0">
                <a:solidFill>
                  <a:srgbClr val="222222"/>
                </a:solidFill>
                <a:latin typeface="Arial" pitchFamily="34" charset="0"/>
                <a:ea typeface="Arial" pitchFamily="34" charset="-122"/>
                <a:cs typeface="Arial" pitchFamily="34" charset="-120"/>
              </a:rPr>
              <a:t>They only help if the plant shuts down after 1 or 2 misses. From ā ≥ 3 the attack is almost as strong.</a:t>
            </a:r>
            <a:endParaRPr lang="en-US" sz="1350" dirty="0"/>
          </a:p>
        </p:txBody>
      </p:sp>
      <p:sp>
        <p:nvSpPr>
          <p:cNvPr id="8" name="takeaway 3"/>
          <p:cNvSpPr/>
          <p:nvPr/>
        </p:nvSpPr>
        <p:spPr>
          <a:xfrm>
            <a:off x="384048" y="2231136"/>
            <a:ext cx="329184" cy="329184"/>
          </a:xfrm>
          <a:prstGeom prst="ellipse">
            <a:avLst/>
          </a:prstGeom>
          <a:solidFill>
            <a:srgbClr val="006E3C"/>
          </a:solidFill>
          <a:ln>
            <a:solidFill>
              <a:srgbClr val="006E3C"/>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9" name="Text 6"/>
          <p:cNvSpPr txBox="1"/>
          <p:nvPr/>
        </p:nvSpPr>
        <p:spPr>
          <a:xfrm>
            <a:off x="868680" y="2194560"/>
            <a:ext cx="4572000" cy="731520"/>
          </a:xfrm>
          <a:prstGeom prst="rect">
            <a:avLst/>
          </a:prstGeom>
          <a:noFill/>
          <a:ln/>
        </p:spPr>
        <p:txBody>
          <a:bodyPr wrap="square" lIns="0" tIns="0" rIns="0" bIns="0" rtlCol="0" anchor="t"/>
          <a:lstStyle/>
          <a:p>
            <a:pPr indent="0" marL="0">
              <a:buNone/>
            </a:pPr>
            <a:r>
              <a:rPr lang="en-US" sz="1350" b="1" dirty="0">
                <a:solidFill>
                  <a:srgbClr val="006E3C"/>
                </a:solidFill>
                <a:latin typeface="Arial" pitchFamily="34" charset="0"/>
                <a:ea typeface="Arial" pitchFamily="34" charset="-122"/>
                <a:cs typeface="Arial" pitchFamily="34" charset="-120"/>
              </a:rPr>
              <a:t>Long memory beats short memory</a:t>
            </a:r>
            <a:endParaRPr lang="en-US" sz="1350" dirty="0"/>
          </a:p>
          <a:p>
            <a:pPr indent="0" marL="0">
              <a:buNone/>
            </a:pPr>
            <a:r>
              <a:rPr lang="en-US" sz="1150" dirty="0">
                <a:solidFill>
                  <a:srgbClr val="222222"/>
                </a:solidFill>
                <a:latin typeface="Arial" pitchFamily="34" charset="0"/>
                <a:ea typeface="Arial" pitchFamily="34" charset="-122"/>
                <a:cs typeface="Arial" pitchFamily="34" charset="-120"/>
              </a:rPr>
              <a:t>The χ² test on long-term counters limits the attacker far more than the sliding-window binomial test.</a:t>
            </a:r>
            <a:endParaRPr lang="en-US" sz="1350" dirty="0"/>
          </a:p>
        </p:txBody>
      </p:sp>
      <p:sp>
        <p:nvSpPr>
          <p:cNvPr id="10" name="takeaway 4"/>
          <p:cNvSpPr/>
          <p:nvPr/>
        </p:nvSpPr>
        <p:spPr>
          <a:xfrm>
            <a:off x="384048" y="3017520"/>
            <a:ext cx="329184" cy="329184"/>
          </a:xfrm>
          <a:prstGeom prst="ellipse">
            <a:avLst/>
          </a:prstGeom>
          <a:solidFill>
            <a:srgbClr val="006E3C"/>
          </a:solidFill>
          <a:ln>
            <a:solidFill>
              <a:srgbClr val="006E3C"/>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1" name="Text 8"/>
          <p:cNvSpPr txBox="1"/>
          <p:nvPr/>
        </p:nvSpPr>
        <p:spPr>
          <a:xfrm>
            <a:off x="868680" y="2980944"/>
            <a:ext cx="4572000" cy="731520"/>
          </a:xfrm>
          <a:prstGeom prst="rect">
            <a:avLst/>
          </a:prstGeom>
          <a:noFill/>
          <a:ln/>
        </p:spPr>
        <p:txBody>
          <a:bodyPr wrap="square" lIns="0" tIns="0" rIns="0" bIns="0" rtlCol="0" anchor="t"/>
          <a:lstStyle/>
          <a:p>
            <a:pPr indent="0" marL="0">
              <a:buNone/>
            </a:pPr>
            <a:r>
              <a:rPr lang="en-US" sz="1350" b="1" dirty="0">
                <a:solidFill>
                  <a:srgbClr val="006E3C"/>
                </a:solidFill>
                <a:latin typeface="Arial" pitchFamily="34" charset="0"/>
                <a:ea typeface="Arial" pitchFamily="34" charset="-122"/>
                <a:cs typeface="Arial" pitchFamily="34" charset="-120"/>
              </a:rPr>
              <a:t>The actuation policy matters</a:t>
            </a:r>
            <a:endParaRPr lang="en-US" sz="1350" dirty="0"/>
          </a:p>
          <a:p>
            <a:pPr indent="0" marL="0">
              <a:buNone/>
            </a:pPr>
            <a:r>
              <a:rPr lang="en-US" sz="1150" dirty="0">
                <a:solidFill>
                  <a:srgbClr val="222222"/>
                </a:solidFill>
                <a:latin typeface="Arial" pitchFamily="34" charset="0"/>
                <a:ea typeface="Arial" pitchFamily="34" charset="-122"/>
                <a:cs typeface="Arial" pitchFamily="34" charset="-120"/>
              </a:rPr>
              <a:t>For the Furuta pendulum, </a:t>
            </a:r>
            <a:r>
              <a:rPr lang="en-US" sz="1150" i="1" dirty="0">
                <a:solidFill>
                  <a:srgbClr val="222222"/>
                </a:solidFill>
                <a:latin typeface="Arial" pitchFamily="34" charset="0"/>
                <a:ea typeface="Arial" pitchFamily="34" charset="-122"/>
                <a:cs typeface="Arial" pitchFamily="34" charset="-120"/>
              </a:rPr>
              <a:t>zero</a:t>
            </a:r>
            <a:r>
              <a:rPr lang="en-US" sz="1150" dirty="0">
                <a:solidFill>
                  <a:srgbClr val="222222"/>
                </a:solidFill>
                <a:latin typeface="Arial" pitchFamily="34" charset="0"/>
                <a:ea typeface="Arial" pitchFamily="34" charset="-122"/>
                <a:cs typeface="Arial" pitchFamily="34" charset="-120"/>
              </a:rPr>
              <a:t> is the safer choice. Under </a:t>
            </a:r>
            <a:r>
              <a:rPr lang="en-US" sz="1150" i="1" dirty="0">
                <a:solidFill>
                  <a:srgbClr val="222222"/>
                </a:solidFill>
                <a:latin typeface="Arial" pitchFamily="34" charset="0"/>
                <a:ea typeface="Arial" pitchFamily="34" charset="-122"/>
                <a:cs typeface="Arial" pitchFamily="34" charset="-120"/>
              </a:rPr>
              <a:t>hold</a:t>
            </a:r>
            <a:r>
              <a:rPr lang="en-US" sz="1150" dirty="0">
                <a:solidFill>
                  <a:srgbClr val="222222"/>
                </a:solidFill>
                <a:latin typeface="Arial" pitchFamily="34" charset="0"/>
                <a:ea typeface="Arial" pitchFamily="34" charset="-122"/>
                <a:cs typeface="Arial" pitchFamily="34" charset="-120"/>
              </a:rPr>
              <a:t>, a stealthy attack can destabilise it.</a:t>
            </a:r>
            <a:endParaRPr lang="en-US" sz="1350" dirty="0"/>
          </a:p>
        </p:txBody>
      </p:sp>
      <p:sp>
        <p:nvSpPr>
          <p:cNvPr id="12" name="takeaway 5"/>
          <p:cNvSpPr/>
          <p:nvPr/>
        </p:nvSpPr>
        <p:spPr>
          <a:xfrm>
            <a:off x="384048" y="3803904"/>
            <a:ext cx="329184" cy="329184"/>
          </a:xfrm>
          <a:prstGeom prst="ellipse">
            <a:avLst/>
          </a:prstGeom>
          <a:solidFill>
            <a:srgbClr val="006E3C"/>
          </a:solidFill>
          <a:ln>
            <a:solidFill>
              <a:srgbClr val="006E3C"/>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3" name="Text 10"/>
          <p:cNvSpPr txBox="1"/>
          <p:nvPr/>
        </p:nvSpPr>
        <p:spPr>
          <a:xfrm>
            <a:off x="868680" y="3767328"/>
            <a:ext cx="4572000" cy="731520"/>
          </a:xfrm>
          <a:prstGeom prst="rect">
            <a:avLst/>
          </a:prstGeom>
          <a:noFill/>
          <a:ln/>
        </p:spPr>
        <p:txBody>
          <a:bodyPr wrap="square" lIns="0" tIns="0" rIns="0" bIns="0" rtlCol="0" anchor="t"/>
          <a:lstStyle/>
          <a:p>
            <a:pPr indent="0" marL="0">
              <a:buNone/>
            </a:pPr>
            <a:r>
              <a:rPr lang="en-US" sz="1350" b="1" dirty="0">
                <a:solidFill>
                  <a:srgbClr val="006E3C"/>
                </a:solidFill>
                <a:latin typeface="Arial" pitchFamily="34" charset="0"/>
                <a:ea typeface="Arial" pitchFamily="34" charset="-122"/>
                <a:cs typeface="Arial" pitchFamily="34" charset="-120"/>
              </a:rPr>
              <a:t>Well-timed beats more</a:t>
            </a:r>
            <a:endParaRPr lang="en-US" sz="1350" dirty="0"/>
          </a:p>
          <a:p>
            <a:pPr indent="0" marL="0">
              <a:buNone/>
            </a:pPr>
            <a:r>
              <a:rPr lang="en-US" sz="1150" dirty="0">
                <a:solidFill>
                  <a:srgbClr val="222222"/>
                </a:solidFill>
                <a:latin typeface="Arial" pitchFamily="34" charset="0"/>
                <a:ea typeface="Arial" pitchFamily="34" charset="-122"/>
                <a:cs typeface="Arial" pitchFamily="34" charset="-120"/>
              </a:rPr>
              <a:t>Optimal attacks interleave misses with hits, and around 10 periods is already enough for peak damage.</a:t>
            </a:r>
            <a:endParaRPr lang="en-US" sz="1350" dirty="0"/>
          </a:p>
        </p:txBody>
      </p:sp>
      <p:sp>
        <p:nvSpPr>
          <p:cNvPr id="14" name="defender panel"/>
          <p:cNvSpPr/>
          <p:nvPr/>
        </p:nvSpPr>
        <p:spPr>
          <a:xfrm>
            <a:off x="5623560" y="685800"/>
            <a:ext cx="3154680" cy="2423160"/>
          </a:xfrm>
          <a:prstGeom prst="roundRect">
            <a:avLst>
              <a:gd name="adj" fmla="val 3019"/>
            </a:avLst>
          </a:prstGeom>
          <a:solidFill>
            <a:srgbClr val="006E3C"/>
          </a:solidFill>
          <a:ln w="12700">
            <a:solidFill>
              <a:srgbClr val="006E3C"/>
            </a:solidFill>
            <a:prstDash val="solid"/>
          </a:ln>
          <a:effectLst>
            <a:outerShdw sx="100000" sy="100000" kx="0" ky="0" algn="bl" rotWithShape="0" blurRad="50800" dist="25400" dir="2700000">
              <a:srgbClr val="000000">
                <a:alpha val="30000"/>
              </a:srgbClr>
            </a:outerShdw>
          </a:effectLst>
        </p:spPr>
      </p:sp>
      <p:sp>
        <p:nvSpPr>
          <p:cNvPr id="15" name="Text 12"/>
          <p:cNvSpPr txBox="1"/>
          <p:nvPr/>
        </p:nvSpPr>
        <p:spPr>
          <a:xfrm>
            <a:off x="5806440" y="804672"/>
            <a:ext cx="283464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What defenders should do</a:t>
            </a:r>
            <a:endParaRPr lang="en-US" sz="1350" dirty="0"/>
          </a:p>
        </p:txBody>
      </p:sp>
      <p:sp>
        <p:nvSpPr>
          <p:cNvPr id="16" name="Text 13"/>
          <p:cNvSpPr/>
          <p:nvPr/>
        </p:nvSpPr>
        <p:spPr>
          <a:xfrm>
            <a:off x="5806440" y="1271016"/>
            <a:ext cx="256032" cy="256032"/>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1</a:t>
            </a:r>
            <a:endParaRPr lang="en-US" sz="1000" dirty="0"/>
          </a:p>
        </p:txBody>
      </p:sp>
      <p:sp>
        <p:nvSpPr>
          <p:cNvPr id="17" name="Text 14"/>
          <p:cNvSpPr txBox="1"/>
          <p:nvPr/>
        </p:nvSpPr>
        <p:spPr>
          <a:xfrm>
            <a:off x="6172200" y="1234440"/>
            <a:ext cx="2514600" cy="32918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Monitor long-term timing statistics</a:t>
            </a:r>
            <a:endParaRPr lang="en-US" sz="1100" dirty="0"/>
          </a:p>
        </p:txBody>
      </p:sp>
      <p:sp>
        <p:nvSpPr>
          <p:cNvPr id="18" name="Text 15"/>
          <p:cNvSpPr/>
          <p:nvPr/>
        </p:nvSpPr>
        <p:spPr>
          <a:xfrm>
            <a:off x="5806440" y="1728216"/>
            <a:ext cx="256032" cy="256032"/>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2</a:t>
            </a:r>
            <a:endParaRPr lang="en-US" sz="1000" dirty="0"/>
          </a:p>
        </p:txBody>
      </p:sp>
      <p:sp>
        <p:nvSpPr>
          <p:cNvPr id="19" name="Text 16"/>
          <p:cNvSpPr txBox="1"/>
          <p:nvPr/>
        </p:nvSpPr>
        <p:spPr>
          <a:xfrm>
            <a:off x="6172200" y="1691640"/>
            <a:ext cx="2514600" cy="32918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Prefer zeroing over holding on unstable plants</a:t>
            </a:r>
            <a:endParaRPr lang="en-US" sz="1100" dirty="0"/>
          </a:p>
        </p:txBody>
      </p:sp>
      <p:sp>
        <p:nvSpPr>
          <p:cNvPr id="20" name="Text 17"/>
          <p:cNvSpPr/>
          <p:nvPr/>
        </p:nvSpPr>
        <p:spPr>
          <a:xfrm>
            <a:off x="5806440" y="2185416"/>
            <a:ext cx="256032" cy="256032"/>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3</a:t>
            </a:r>
            <a:endParaRPr lang="en-US" sz="1000" dirty="0"/>
          </a:p>
        </p:txBody>
      </p:sp>
      <p:sp>
        <p:nvSpPr>
          <p:cNvPr id="21" name="Text 18"/>
          <p:cNvSpPr txBox="1"/>
          <p:nvPr/>
        </p:nvSpPr>
        <p:spPr>
          <a:xfrm>
            <a:off x="6172200" y="2148840"/>
            <a:ext cx="2514600" cy="32918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Tune the detection window to the plant</a:t>
            </a:r>
            <a:endParaRPr lang="en-US" sz="1100" dirty="0"/>
          </a:p>
        </p:txBody>
      </p:sp>
      <p:sp>
        <p:nvSpPr>
          <p:cNvPr id="22" name="Text 19"/>
          <p:cNvSpPr/>
          <p:nvPr/>
        </p:nvSpPr>
        <p:spPr>
          <a:xfrm>
            <a:off x="5806440" y="2642616"/>
            <a:ext cx="256032" cy="256032"/>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000" b="1" dirty="0">
                <a:solidFill>
                  <a:srgbClr val="006E3C"/>
                </a:solidFill>
                <a:latin typeface="Arial" pitchFamily="34" charset="0"/>
                <a:ea typeface="Arial" pitchFamily="34" charset="-122"/>
                <a:cs typeface="Arial" pitchFamily="34" charset="-120"/>
              </a:rPr>
              <a:t>4</a:t>
            </a:r>
            <a:endParaRPr lang="en-US" sz="1000" dirty="0"/>
          </a:p>
        </p:txBody>
      </p:sp>
      <p:sp>
        <p:nvSpPr>
          <p:cNvPr id="23" name="Text 20"/>
          <p:cNvSpPr txBox="1"/>
          <p:nvPr/>
        </p:nvSpPr>
        <p:spPr>
          <a:xfrm>
            <a:off x="6172200" y="2606040"/>
            <a:ext cx="2514600" cy="32918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Treat timing anomalies as possible attacks</a:t>
            </a:r>
            <a:endParaRPr lang="en-US" sz="1100" dirty="0"/>
          </a:p>
        </p:txBody>
      </p:sp>
      <p:sp>
        <p:nvSpPr>
          <p:cNvPr id="24" name="block body"/>
          <p:cNvSpPr/>
          <p:nvPr/>
        </p:nvSpPr>
        <p:spPr>
          <a:xfrm>
            <a:off x="5623560" y="3291840"/>
            <a:ext cx="3154680" cy="1261872"/>
          </a:xfrm>
          <a:prstGeom prst="rect">
            <a:avLst/>
          </a:prstGeom>
          <a:solidFill>
            <a:srgbClr val="FBE6E6"/>
          </a:solidFill>
          <a:ln w="12700">
            <a:solidFill>
              <a:srgbClr val="FBE6E6"/>
            </a:solidFill>
            <a:prstDash val="solid"/>
          </a:ln>
          <a:effectLst>
            <a:outerShdw sx="100000" sy="100000" kx="0" ky="0" algn="bl" rotWithShape="0" blurRad="38100" dist="19050" dir="2700000">
              <a:srgbClr val="000000">
                <a:alpha val="25000"/>
              </a:srgbClr>
            </a:outerShdw>
          </a:effectLst>
        </p:spPr>
      </p:sp>
      <p:sp>
        <p:nvSpPr>
          <p:cNvPr id="25" name="block header"/>
          <p:cNvSpPr/>
          <p:nvPr/>
        </p:nvSpPr>
        <p:spPr>
          <a:xfrm>
            <a:off x="5623560" y="3291840"/>
            <a:ext cx="3154680" cy="274320"/>
          </a:xfrm>
          <a:prstGeom prst="rect">
            <a:avLst/>
          </a:prstGeom>
          <a:solidFill>
            <a:srgbClr val="C00000"/>
          </a:solidFill>
          <a:ln w="12700">
            <a:solidFill>
              <a:srgbClr val="C00000"/>
            </a:solidFill>
            <a:prstDash val="solid"/>
          </a:ln>
        </p:spPr>
      </p:sp>
      <p:sp>
        <p:nvSpPr>
          <p:cNvPr id="26" name="Text 23"/>
          <p:cNvSpPr txBox="1"/>
          <p:nvPr/>
        </p:nvSpPr>
        <p:spPr>
          <a:xfrm>
            <a:off x="5696712" y="3291840"/>
            <a:ext cx="3008376"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Bottom line</a:t>
            </a:r>
            <a:endParaRPr lang="en-US" sz="1300" dirty="0"/>
          </a:p>
        </p:txBody>
      </p:sp>
      <p:sp>
        <p:nvSpPr>
          <p:cNvPr id="27" name="Text 24"/>
          <p:cNvSpPr txBox="1"/>
          <p:nvPr/>
        </p:nvSpPr>
        <p:spPr>
          <a:xfrm>
            <a:off x="5715000" y="3621024"/>
            <a:ext cx="2971800" cy="89611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Real-time scheduling is part of security: timing must be monitored over the </a:t>
            </a:r>
            <a:r>
              <a:rPr lang="en-US" sz="1200" b="1" dirty="0">
                <a:solidFill>
                  <a:srgbClr val="222222"/>
                </a:solidFill>
                <a:latin typeface="Arial" pitchFamily="34" charset="0"/>
                <a:ea typeface="Arial" pitchFamily="34" charset="-122"/>
                <a:cs typeface="Arial" pitchFamily="34" charset="-120"/>
              </a:rPr>
              <a:t>long term</a:t>
            </a:r>
            <a:r>
              <a:rPr lang="en-US" sz="1200" dirty="0">
                <a:solidFill>
                  <a:srgbClr val="222222"/>
                </a:solidFill>
                <a:latin typeface="Arial" pitchFamily="34" charset="0"/>
                <a:ea typeface="Arial" pitchFamily="34" charset="-122"/>
                <a:cs typeface="Arial" pitchFamily="34" charset="-120"/>
              </a:rPr>
              <a:t>, not only in the last few periods.</a:t>
            </a:r>
            <a:endParaRPr lang="en-US" sz="1200" dirty="0"/>
          </a:p>
        </p:txBody>
      </p:sp>
      <p:sp>
        <p:nvSpPr>
          <p:cNvPr id="25" name="Slide Number Placeholder 0"/>
          <p:cNvSpPr>
            <a:spLocks noGrp="1"/>
          </p:cNvSpPr>
          <p:nvPr>
            <p:ph type="sldNum" sz="quarter" idx="4294967295"/>
          </p:nvPr>
        </p:nvSpPr>
        <p:spPr>
          <a:xfrm>
            <a:off x="8412480" y="4924044"/>
            <a:ext cx="548640" cy="219456"/>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rgbClr val="FFFFF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Stealthy Computational Delay Attacks on Control Systems</dc:title>
  <dc:subject>PptxGenJS Presentation</dc:subject>
  <dc:creator>Shubham Tyagi, Swarali, Madhavi Singh, Abhishek Sharma, Srinjoy</dc:creator>
  <cp:lastModifiedBy>Shubham Tyagi, Swarali, Madhavi Singh, Abhishek Sharma, Srinjoy</cp:lastModifiedBy>
  <cp:revision>1</cp:revision>
  <dcterms:created xsi:type="dcterms:W3CDTF">2026-10-19T13:41:42Z</dcterms:created>
  <dcterms:modified xsi:type="dcterms:W3CDTF">2026-10-19T13:41:42Z</dcterms:modified>
</cp:coreProperties>
</file>